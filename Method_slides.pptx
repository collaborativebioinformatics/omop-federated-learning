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A84F6763-0DF3-4542-97CA-5B3BE4A9DBBA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9/17/26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AC525359-A8FC-47FB-B655-A95DF5E4280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0" y="0"/>
            <a:ext cx="12191760" cy="27000"/>
          </a:xfrm>
          <a:prstGeom prst="rect">
            <a:avLst/>
          </a:prstGeom>
          <a:solidFill>
            <a:srgbClr val="2dcfbe"/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" name="CustomShape 2"/>
          <p:cNvSpPr/>
          <p:nvPr/>
        </p:nvSpPr>
        <p:spPr>
          <a:xfrm>
            <a:off x="1262520" y="1856160"/>
            <a:ext cx="2521800" cy="14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2dcfbe"/>
                </a:solidFill>
                <a:latin typeface="Aptos"/>
              </a:rPr>
              <a:t>BIOINFORMATICS HACKATHON · 2026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43" name="CustomShape 3"/>
          <p:cNvSpPr/>
          <p:nvPr/>
        </p:nvSpPr>
        <p:spPr>
          <a:xfrm>
            <a:off x="1254240" y="2176200"/>
            <a:ext cx="4644720" cy="564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3700" spc="-1" strike="noStrike">
                <a:solidFill>
                  <a:srgbClr val="dff0fb"/>
                </a:solidFill>
                <a:latin typeface="Aptos"/>
              </a:rPr>
              <a:t>Everything OMOP</a:t>
            </a:r>
            <a:endParaRPr b="0" lang="en-US" sz="3700" spc="-1" strike="noStrike">
              <a:latin typeface="Arial"/>
            </a:endParaRPr>
          </a:p>
        </p:txBody>
      </p:sp>
      <p:sp>
        <p:nvSpPr>
          <p:cNvPr id="44" name="CustomShape 4"/>
          <p:cNvSpPr/>
          <p:nvPr/>
        </p:nvSpPr>
        <p:spPr>
          <a:xfrm>
            <a:off x="1275120" y="2962800"/>
            <a:ext cx="4303440" cy="21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6d9bbb"/>
                </a:solidFill>
                <a:latin typeface="Aptos"/>
              </a:rPr>
              <a:t>Federated learning on harmonised biobank data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5" name="CustomShape 5"/>
          <p:cNvSpPr/>
          <p:nvPr/>
        </p:nvSpPr>
        <p:spPr>
          <a:xfrm>
            <a:off x="694800" y="4297680"/>
            <a:ext cx="5348880" cy="1078560"/>
          </a:xfrm>
          <a:prstGeom prst="rect">
            <a:avLst/>
          </a:prstGeom>
          <a:solidFill>
            <a:srgbClr val="0e2038"/>
          </a:solidFill>
          <a:ln w="9360">
            <a:solidFill>
              <a:srgbClr val="2dcfbe"/>
            </a:solidFill>
            <a:round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6" name="CustomShape 6"/>
          <p:cNvSpPr/>
          <p:nvPr/>
        </p:nvSpPr>
        <p:spPr>
          <a:xfrm>
            <a:off x="2896200" y="4471560"/>
            <a:ext cx="933840" cy="13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dcfbe"/>
                </a:solidFill>
                <a:latin typeface="Aptos"/>
              </a:rPr>
              <a:t>SUBPROJECT 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7" name="CustomShape 7"/>
          <p:cNvSpPr/>
          <p:nvPr/>
        </p:nvSpPr>
        <p:spPr>
          <a:xfrm>
            <a:off x="784080" y="4736520"/>
            <a:ext cx="5124960" cy="18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dff0fb"/>
                </a:solidFill>
                <a:latin typeface="Aptos"/>
              </a:rPr>
              <a:t>Automated biobank → OMOP conversion and quality control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8" name="CustomShape 8"/>
          <p:cNvSpPr/>
          <p:nvPr/>
        </p:nvSpPr>
        <p:spPr>
          <a:xfrm>
            <a:off x="6144840" y="4297680"/>
            <a:ext cx="5348880" cy="1078560"/>
          </a:xfrm>
          <a:prstGeom prst="rect">
            <a:avLst/>
          </a:prstGeom>
          <a:solidFill>
            <a:srgbClr val="0e2038"/>
          </a:solidFill>
          <a:ln w="9360">
            <a:solidFill>
              <a:srgbClr val="2dcfbe"/>
            </a:solidFill>
            <a:round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" name="CustomShape 9"/>
          <p:cNvSpPr/>
          <p:nvPr/>
        </p:nvSpPr>
        <p:spPr>
          <a:xfrm>
            <a:off x="8310240" y="4471560"/>
            <a:ext cx="933840" cy="13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dcfbe"/>
                </a:solidFill>
                <a:latin typeface="Aptos"/>
              </a:rPr>
              <a:t>SUBPROJECT 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0" name="CustomShape 10"/>
          <p:cNvSpPr/>
          <p:nvPr/>
        </p:nvSpPr>
        <p:spPr>
          <a:xfrm>
            <a:off x="6423840" y="4736520"/>
            <a:ext cx="4745160" cy="18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dff0fb"/>
                </a:solidFill>
                <a:latin typeface="Aptos"/>
              </a:rPr>
              <a:t>Proof-of-concept federated learning on OMOP datasets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1" name="CustomShape 11"/>
          <p:cNvSpPr/>
          <p:nvPr/>
        </p:nvSpPr>
        <p:spPr>
          <a:xfrm>
            <a:off x="10843200" y="6419160"/>
            <a:ext cx="258480" cy="13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6d9bbb"/>
                </a:solidFill>
                <a:latin typeface="Aptos"/>
              </a:rPr>
              <a:t>1 / 4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ustomShape 1"/>
          <p:cNvSpPr/>
          <p:nvPr/>
        </p:nvSpPr>
        <p:spPr>
          <a:xfrm>
            <a:off x="7516800" y="2919240"/>
            <a:ext cx="1846800" cy="914040"/>
          </a:xfrm>
          <a:prstGeom prst="rect">
            <a:avLst/>
          </a:prstGeom>
          <a:solidFill>
            <a:srgbClr val="0e2038"/>
          </a:solidFill>
          <a:ln w="9360">
            <a:solidFill>
              <a:srgbClr val="2dcfbe"/>
            </a:solidFill>
            <a:round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" name="CustomShape 2"/>
          <p:cNvSpPr/>
          <p:nvPr/>
        </p:nvSpPr>
        <p:spPr>
          <a:xfrm>
            <a:off x="0" y="0"/>
            <a:ext cx="12191760" cy="27000"/>
          </a:xfrm>
          <a:prstGeom prst="rect">
            <a:avLst/>
          </a:prstGeom>
          <a:solidFill>
            <a:srgbClr val="2dcfbe"/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4" name="CustomShape 3"/>
          <p:cNvSpPr/>
          <p:nvPr/>
        </p:nvSpPr>
        <p:spPr>
          <a:xfrm>
            <a:off x="1477440" y="576000"/>
            <a:ext cx="720360" cy="14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2dcfbe"/>
                </a:solidFill>
                <a:latin typeface="Aptos"/>
              </a:rPr>
              <a:t>OVERVIEW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55" name="CustomShape 4"/>
          <p:cNvSpPr/>
          <p:nvPr/>
        </p:nvSpPr>
        <p:spPr>
          <a:xfrm>
            <a:off x="1474920" y="831960"/>
            <a:ext cx="2669760" cy="28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900" spc="-1" strike="noStrike">
                <a:solidFill>
                  <a:srgbClr val="dff0fb"/>
                </a:solidFill>
                <a:latin typeface="Aptos"/>
              </a:rPr>
              <a:t>End-to-end pipeline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56" name="CustomShape 5"/>
          <p:cNvSpPr/>
          <p:nvPr/>
        </p:nvSpPr>
        <p:spPr>
          <a:xfrm>
            <a:off x="658440" y="2907720"/>
            <a:ext cx="1846800" cy="914040"/>
          </a:xfrm>
          <a:prstGeom prst="rect">
            <a:avLst/>
          </a:prstGeom>
          <a:solidFill>
            <a:srgbClr val="0e2038"/>
          </a:solidFill>
          <a:ln w="9360">
            <a:solidFill>
              <a:srgbClr val="2dcfbe"/>
            </a:solidFill>
            <a:round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7" name="CustomShape 6"/>
          <p:cNvSpPr/>
          <p:nvPr/>
        </p:nvSpPr>
        <p:spPr>
          <a:xfrm>
            <a:off x="1432440" y="3072240"/>
            <a:ext cx="298440" cy="13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6d9bbb"/>
                </a:solidFill>
                <a:latin typeface="Aptos"/>
              </a:rPr>
              <a:t>Input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8" name="CustomShape 7"/>
          <p:cNvSpPr/>
          <p:nvPr/>
        </p:nvSpPr>
        <p:spPr>
          <a:xfrm>
            <a:off x="810000" y="3319200"/>
            <a:ext cx="1543320" cy="18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dff0fb"/>
                </a:solidFill>
                <a:latin typeface="Aptos"/>
              </a:rPr>
              <a:t>Raw biobank data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9" name="CustomShape 8"/>
          <p:cNvSpPr/>
          <p:nvPr/>
        </p:nvSpPr>
        <p:spPr>
          <a:xfrm>
            <a:off x="2648520" y="3191400"/>
            <a:ext cx="170280" cy="24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2dcfbe"/>
                </a:solidFill>
                <a:latin typeface="Aptos"/>
              </a:rPr>
              <a:t>→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0" name="CustomShape 9"/>
          <p:cNvSpPr/>
          <p:nvPr/>
        </p:nvSpPr>
        <p:spPr>
          <a:xfrm>
            <a:off x="2953440" y="2907720"/>
            <a:ext cx="1846800" cy="914040"/>
          </a:xfrm>
          <a:prstGeom prst="rect">
            <a:avLst/>
          </a:prstGeom>
          <a:solidFill>
            <a:srgbClr val="0e2038"/>
          </a:solidFill>
          <a:ln w="9360">
            <a:solidFill>
              <a:srgbClr val="2dcfbe"/>
            </a:solidFill>
            <a:round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1" name="CustomShape 10"/>
          <p:cNvSpPr/>
          <p:nvPr/>
        </p:nvSpPr>
        <p:spPr>
          <a:xfrm>
            <a:off x="3513240" y="3072240"/>
            <a:ext cx="726480" cy="13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6d9bbb"/>
                </a:solidFill>
                <a:latin typeface="Aptos"/>
              </a:rPr>
              <a:t>Subproject 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2" name="CustomShape 11"/>
          <p:cNvSpPr/>
          <p:nvPr/>
        </p:nvSpPr>
        <p:spPr>
          <a:xfrm>
            <a:off x="3119400" y="3319200"/>
            <a:ext cx="1514520" cy="18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dff0fb"/>
                </a:solidFill>
                <a:latin typeface="Aptos"/>
              </a:rPr>
              <a:t>OMOP conversion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3" name="CustomShape 12"/>
          <p:cNvSpPr/>
          <p:nvPr/>
        </p:nvSpPr>
        <p:spPr>
          <a:xfrm>
            <a:off x="4943520" y="3191400"/>
            <a:ext cx="170280" cy="24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2dcfbe"/>
                </a:solidFill>
                <a:latin typeface="Aptos"/>
              </a:rPr>
              <a:t>→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4" name="CustomShape 13"/>
          <p:cNvSpPr/>
          <p:nvPr/>
        </p:nvSpPr>
        <p:spPr>
          <a:xfrm>
            <a:off x="5248800" y="2907720"/>
            <a:ext cx="1846800" cy="914040"/>
          </a:xfrm>
          <a:prstGeom prst="rect">
            <a:avLst/>
          </a:prstGeom>
          <a:solidFill>
            <a:srgbClr val="0e2038"/>
          </a:solidFill>
          <a:ln w="9360">
            <a:solidFill>
              <a:srgbClr val="2dcfbe"/>
            </a:solidFill>
            <a:round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5" name="CustomShape 14"/>
          <p:cNvSpPr/>
          <p:nvPr/>
        </p:nvSpPr>
        <p:spPr>
          <a:xfrm>
            <a:off x="5808240" y="3072240"/>
            <a:ext cx="726480" cy="13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6d9bbb"/>
                </a:solidFill>
                <a:latin typeface="Aptos"/>
              </a:rPr>
              <a:t>Subproject 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6" name="CustomShape 15"/>
          <p:cNvSpPr/>
          <p:nvPr/>
        </p:nvSpPr>
        <p:spPr>
          <a:xfrm>
            <a:off x="5679360" y="3319200"/>
            <a:ext cx="985680" cy="18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dff0fb"/>
                </a:solidFill>
                <a:latin typeface="Aptos"/>
              </a:rPr>
              <a:t>QC pipeline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7" name="CustomShape 16"/>
          <p:cNvSpPr/>
          <p:nvPr/>
        </p:nvSpPr>
        <p:spPr>
          <a:xfrm>
            <a:off x="7238880" y="3191400"/>
            <a:ext cx="170280" cy="24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2dcfbe"/>
                </a:solidFill>
                <a:latin typeface="Aptos"/>
              </a:rPr>
              <a:t>→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8" name="CustomShape 17"/>
          <p:cNvSpPr/>
          <p:nvPr/>
        </p:nvSpPr>
        <p:spPr>
          <a:xfrm>
            <a:off x="8103960" y="3072240"/>
            <a:ext cx="726480" cy="13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6d9bbb"/>
                </a:solidFill>
                <a:latin typeface="Aptos"/>
              </a:rPr>
              <a:t>Subproject 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9" name="CustomShape 18"/>
          <p:cNvSpPr/>
          <p:nvPr/>
        </p:nvSpPr>
        <p:spPr>
          <a:xfrm>
            <a:off x="7661160" y="3319200"/>
            <a:ext cx="1612080" cy="18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2dcfbe"/>
                </a:solidFill>
                <a:latin typeface="Aptos"/>
              </a:rPr>
              <a:t>Federated training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0" name="CustomShape 19"/>
          <p:cNvSpPr/>
          <p:nvPr/>
        </p:nvSpPr>
        <p:spPr>
          <a:xfrm>
            <a:off x="9533880" y="3191400"/>
            <a:ext cx="170280" cy="24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2dcfbe"/>
                </a:solidFill>
                <a:latin typeface="Aptos"/>
              </a:rPr>
              <a:t>→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1" name="CustomShape 20"/>
          <p:cNvSpPr/>
          <p:nvPr/>
        </p:nvSpPr>
        <p:spPr>
          <a:xfrm>
            <a:off x="9838800" y="2907720"/>
            <a:ext cx="1846800" cy="914040"/>
          </a:xfrm>
          <a:prstGeom prst="rect">
            <a:avLst/>
          </a:prstGeom>
          <a:solidFill>
            <a:srgbClr val="0e2038"/>
          </a:solidFill>
          <a:ln w="9360">
            <a:solidFill>
              <a:srgbClr val="2dcfbe"/>
            </a:solidFill>
            <a:round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2" name="CustomShape 21"/>
          <p:cNvSpPr/>
          <p:nvPr/>
        </p:nvSpPr>
        <p:spPr>
          <a:xfrm>
            <a:off x="10562760" y="3072240"/>
            <a:ext cx="398880" cy="13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6d9bbb"/>
                </a:solidFill>
                <a:latin typeface="Aptos"/>
              </a:rPr>
              <a:t>Output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3" name="CustomShape 22"/>
          <p:cNvSpPr/>
          <p:nvPr/>
        </p:nvSpPr>
        <p:spPr>
          <a:xfrm>
            <a:off x="10152000" y="3319200"/>
            <a:ext cx="1220400" cy="18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dff0fb"/>
                </a:solidFill>
                <a:latin typeface="Aptos"/>
              </a:rPr>
              <a:t>Trained model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4" name="CustomShape 23"/>
          <p:cNvSpPr/>
          <p:nvPr/>
        </p:nvSpPr>
        <p:spPr>
          <a:xfrm>
            <a:off x="10843200" y="6419160"/>
            <a:ext cx="258480" cy="13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6d9bbb"/>
                </a:solidFill>
                <a:latin typeface="Aptos"/>
              </a:rPr>
              <a:t>2 / 4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CustomShape 1"/>
          <p:cNvSpPr/>
          <p:nvPr/>
        </p:nvSpPr>
        <p:spPr>
          <a:xfrm>
            <a:off x="0" y="0"/>
            <a:ext cx="12191760" cy="27000"/>
          </a:xfrm>
          <a:prstGeom prst="rect">
            <a:avLst/>
          </a:prstGeom>
          <a:solidFill>
            <a:srgbClr val="2dcfbe"/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6" name="CustomShape 2"/>
          <p:cNvSpPr/>
          <p:nvPr/>
        </p:nvSpPr>
        <p:spPr>
          <a:xfrm>
            <a:off x="1345320" y="576000"/>
            <a:ext cx="984240" cy="14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2dcfbe"/>
                </a:solidFill>
                <a:latin typeface="Aptos"/>
              </a:rPr>
              <a:t>SUBPROJECT 1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77" name="CustomShape 3"/>
          <p:cNvSpPr/>
          <p:nvPr/>
        </p:nvSpPr>
        <p:spPr>
          <a:xfrm>
            <a:off x="1366560" y="831960"/>
            <a:ext cx="4758840" cy="28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900" spc="-1" strike="noStrike">
                <a:solidFill>
                  <a:srgbClr val="dff0fb"/>
                </a:solidFill>
                <a:latin typeface="Aptos"/>
              </a:rPr>
              <a:t>OMOP conversion &amp; quality control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78" name="CustomShape 4"/>
          <p:cNvSpPr/>
          <p:nvPr/>
        </p:nvSpPr>
        <p:spPr>
          <a:xfrm>
            <a:off x="2474640" y="1949400"/>
            <a:ext cx="1468800" cy="13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6d9bbb"/>
                </a:solidFill>
                <a:latin typeface="Aptos"/>
              </a:rPr>
              <a:t>CONVERSION PIPELINE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9" name="CustomShape 5"/>
          <p:cNvSpPr/>
          <p:nvPr/>
        </p:nvSpPr>
        <p:spPr>
          <a:xfrm>
            <a:off x="8265960" y="1949400"/>
            <a:ext cx="1206720" cy="13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6d9bbb"/>
                </a:solidFill>
                <a:latin typeface="Aptos"/>
              </a:rPr>
              <a:t>QUALITY CONTROL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0" name="CustomShape 6"/>
          <p:cNvSpPr/>
          <p:nvPr/>
        </p:nvSpPr>
        <p:spPr>
          <a:xfrm>
            <a:off x="694800" y="2214360"/>
            <a:ext cx="5074560" cy="864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1" name="CustomShape 7"/>
          <p:cNvSpPr/>
          <p:nvPr/>
        </p:nvSpPr>
        <p:spPr>
          <a:xfrm>
            <a:off x="6355080" y="2214360"/>
            <a:ext cx="5074560" cy="864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2" name="CustomShape 8"/>
          <p:cNvSpPr/>
          <p:nvPr/>
        </p:nvSpPr>
        <p:spPr>
          <a:xfrm>
            <a:off x="694800" y="2488680"/>
            <a:ext cx="54360" cy="54360"/>
          </a:xfrm>
          <a:prstGeom prst="rect">
            <a:avLst/>
          </a:prstGeom>
          <a:solidFill>
            <a:srgbClr val="2dcfbe"/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3" name="CustomShape 9"/>
          <p:cNvSpPr/>
          <p:nvPr/>
        </p:nvSpPr>
        <p:spPr>
          <a:xfrm>
            <a:off x="859680" y="2406600"/>
            <a:ext cx="4910040" cy="38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5000"/>
              </a:lnSpc>
            </a:pPr>
            <a:r>
              <a:rPr b="0" lang="en-US" sz="1200" spc="-1" strike="noStrike">
                <a:solidFill>
                  <a:srgbClr val="dff0fb"/>
                </a:solidFill>
                <a:latin typeface="Aptos"/>
              </a:rPr>
              <a:t>Identify </a:t>
            </a:r>
            <a:r>
              <a:rPr b="0" lang="en-US" sz="1200" spc="-1" strike="noStrike">
                <a:solidFill>
                  <a:srgbClr val="6d9bbb"/>
                </a:solidFill>
                <a:latin typeface="Aptos"/>
              </a:rPr>
              <a:t>minimal required tables and fields</a:t>
            </a:r>
            <a:r>
              <a:rPr b="0" lang="en-US" sz="1200" spc="-1" strike="noStrike">
                <a:solidFill>
                  <a:srgbClr val="dff0fb"/>
                </a:solidFill>
                <a:latin typeface="Aptos"/>
              </a:rPr>
              <a:t> common across source biobank schemas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4" name="CustomShape 10"/>
          <p:cNvSpPr/>
          <p:nvPr/>
        </p:nvSpPr>
        <p:spPr>
          <a:xfrm>
            <a:off x="694800" y="3293640"/>
            <a:ext cx="54360" cy="54360"/>
          </a:xfrm>
          <a:prstGeom prst="rect">
            <a:avLst/>
          </a:prstGeom>
          <a:solidFill>
            <a:srgbClr val="2dcfbe"/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5" name="CustomShape 11"/>
          <p:cNvSpPr/>
          <p:nvPr/>
        </p:nvSpPr>
        <p:spPr>
          <a:xfrm>
            <a:off x="859680" y="3211200"/>
            <a:ext cx="4910040" cy="38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5000"/>
              </a:lnSpc>
            </a:pPr>
            <a:r>
              <a:rPr b="0" lang="en-US" sz="1200" spc="-1" strike="noStrike">
                <a:solidFill>
                  <a:srgbClr val="dff0fb"/>
                </a:solidFill>
                <a:latin typeface="Aptos"/>
              </a:rPr>
              <a:t>Map source concepts to OHDSI standard vocabularies using </a:t>
            </a:r>
            <a:r>
              <a:rPr b="0" lang="en-US" sz="1200" spc="-1" strike="noStrike">
                <a:solidFill>
                  <a:srgbClr val="6d9bbb"/>
                </a:solidFill>
                <a:latin typeface="Aptos"/>
              </a:rPr>
              <a:t>Usagi</a:t>
            </a:r>
            <a:r>
              <a:rPr b="0" lang="en-US" sz="1200" spc="-1" strike="noStrike">
                <a:solidFill>
                  <a:srgbClr val="dff0fb"/>
                </a:solidFill>
                <a:latin typeface="Aptos"/>
              </a:rPr>
              <a:t>, with manual review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6" name="CustomShape 12"/>
          <p:cNvSpPr/>
          <p:nvPr/>
        </p:nvSpPr>
        <p:spPr>
          <a:xfrm>
            <a:off x="694800" y="4098240"/>
            <a:ext cx="54360" cy="54360"/>
          </a:xfrm>
          <a:prstGeom prst="rect">
            <a:avLst/>
          </a:prstGeom>
          <a:solidFill>
            <a:srgbClr val="2dcfbe"/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7" name="CustomShape 13"/>
          <p:cNvSpPr/>
          <p:nvPr/>
        </p:nvSpPr>
        <p:spPr>
          <a:xfrm>
            <a:off x="859680" y="4015800"/>
            <a:ext cx="4910040" cy="38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5000"/>
              </a:lnSpc>
            </a:pPr>
            <a:r>
              <a:rPr b="0" lang="en-US" sz="1200" spc="-1" strike="noStrike">
                <a:solidFill>
                  <a:srgbClr val="dff0fb"/>
                </a:solidFill>
                <a:latin typeface="Aptos"/>
              </a:rPr>
              <a:t>Framework is extensible to arbitrary biobank schemas — no source-specific engineering required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8" name="CustomShape 14"/>
          <p:cNvSpPr/>
          <p:nvPr/>
        </p:nvSpPr>
        <p:spPr>
          <a:xfrm>
            <a:off x="6355080" y="2488680"/>
            <a:ext cx="54360" cy="54360"/>
          </a:xfrm>
          <a:prstGeom prst="rect">
            <a:avLst/>
          </a:prstGeom>
          <a:solidFill>
            <a:srgbClr val="2dcfbe"/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9" name="CustomShape 15"/>
          <p:cNvSpPr/>
          <p:nvPr/>
        </p:nvSpPr>
        <p:spPr>
          <a:xfrm>
            <a:off x="6519600" y="2406600"/>
            <a:ext cx="4910040" cy="38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5000"/>
              </a:lnSpc>
            </a:pPr>
            <a:r>
              <a:rPr b="0" lang="en-US" sz="1200" spc="-1" strike="noStrike">
                <a:solidFill>
                  <a:srgbClr val="dff0fb"/>
                </a:solidFill>
                <a:latin typeface="Aptos"/>
              </a:rPr>
              <a:t>Completeness, date logic, unit standardisation, and concept mapping coverage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0" name="CustomShape 16"/>
          <p:cNvSpPr/>
          <p:nvPr/>
        </p:nvSpPr>
        <p:spPr>
          <a:xfrm>
            <a:off x="6355080" y="3293640"/>
            <a:ext cx="54360" cy="54360"/>
          </a:xfrm>
          <a:prstGeom prst="rect">
            <a:avLst/>
          </a:prstGeom>
          <a:solidFill>
            <a:srgbClr val="2dcfbe"/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1" name="CustomShape 17"/>
          <p:cNvSpPr/>
          <p:nvPr/>
        </p:nvSpPr>
        <p:spPr>
          <a:xfrm>
            <a:off x="6519600" y="3211200"/>
            <a:ext cx="4910040" cy="38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5000"/>
              </a:lnSpc>
            </a:pPr>
            <a:r>
              <a:rPr b="0" lang="en-US" sz="1200" spc="-1" strike="noStrike">
                <a:solidFill>
                  <a:srgbClr val="dff0fb"/>
                </a:solidFill>
                <a:latin typeface="Aptos"/>
              </a:rPr>
              <a:t>Evaluated comparatively against a </a:t>
            </a:r>
            <a:r>
              <a:rPr b="0" lang="en-US" sz="1200" spc="-1" strike="noStrike">
                <a:solidFill>
                  <a:srgbClr val="6d9bbb"/>
                </a:solidFill>
                <a:latin typeface="Aptos"/>
              </a:rPr>
              <a:t>Synthea</a:t>
            </a:r>
            <a:r>
              <a:rPr b="0" lang="en-US" sz="1200" spc="-1" strike="noStrike">
                <a:solidFill>
                  <a:srgbClr val="dff0fb"/>
                </a:solidFill>
                <a:latin typeface="Aptos"/>
              </a:rPr>
              <a:t>-derived reference OMOP dataset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2" name="CustomShape 18"/>
          <p:cNvSpPr/>
          <p:nvPr/>
        </p:nvSpPr>
        <p:spPr>
          <a:xfrm>
            <a:off x="10843200" y="6419160"/>
            <a:ext cx="258480" cy="13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6d9bbb"/>
                </a:solidFill>
                <a:latin typeface="Aptos"/>
              </a:rPr>
              <a:t>3 / 4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0" y="0"/>
            <a:ext cx="12191760" cy="27000"/>
          </a:xfrm>
          <a:prstGeom prst="rect">
            <a:avLst/>
          </a:prstGeom>
          <a:solidFill>
            <a:srgbClr val="2dcfbe"/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4" name="CustomShape 2"/>
          <p:cNvSpPr/>
          <p:nvPr/>
        </p:nvSpPr>
        <p:spPr>
          <a:xfrm>
            <a:off x="1345320" y="576000"/>
            <a:ext cx="984240" cy="14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2dcfbe"/>
                </a:solidFill>
                <a:latin typeface="Aptos"/>
              </a:rPr>
              <a:t>SUBPROJECT 2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95" name="CustomShape 3"/>
          <p:cNvSpPr/>
          <p:nvPr/>
        </p:nvSpPr>
        <p:spPr>
          <a:xfrm>
            <a:off x="1326960" y="831960"/>
            <a:ext cx="4621680" cy="28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900" spc="-1" strike="noStrike">
                <a:solidFill>
                  <a:srgbClr val="dff0fb"/>
                </a:solidFill>
                <a:latin typeface="Aptos"/>
              </a:rPr>
              <a:t>Federated learning on OMOP data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96" name="CustomShape 4"/>
          <p:cNvSpPr/>
          <p:nvPr/>
        </p:nvSpPr>
        <p:spPr>
          <a:xfrm>
            <a:off x="2637720" y="1949400"/>
            <a:ext cx="1142640" cy="13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6d9bbb"/>
                </a:solidFill>
                <a:latin typeface="Aptos"/>
              </a:rPr>
              <a:t>IMPLEMENTATION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7" name="CustomShape 5"/>
          <p:cNvSpPr/>
          <p:nvPr/>
        </p:nvSpPr>
        <p:spPr>
          <a:xfrm>
            <a:off x="8229600" y="1949400"/>
            <a:ext cx="1279800" cy="13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6d9bbb"/>
                </a:solidFill>
                <a:latin typeface="Aptos"/>
              </a:rPr>
              <a:t>SCOPE &amp; OBJECTIVE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8" name="CustomShape 6"/>
          <p:cNvSpPr/>
          <p:nvPr/>
        </p:nvSpPr>
        <p:spPr>
          <a:xfrm>
            <a:off x="694800" y="2214360"/>
            <a:ext cx="5074560" cy="864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9" name="CustomShape 7"/>
          <p:cNvSpPr/>
          <p:nvPr/>
        </p:nvSpPr>
        <p:spPr>
          <a:xfrm>
            <a:off x="6355080" y="2214360"/>
            <a:ext cx="5074560" cy="864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0" name="CustomShape 8"/>
          <p:cNvSpPr/>
          <p:nvPr/>
        </p:nvSpPr>
        <p:spPr>
          <a:xfrm>
            <a:off x="694800" y="2488680"/>
            <a:ext cx="54360" cy="54360"/>
          </a:xfrm>
          <a:prstGeom prst="rect">
            <a:avLst/>
          </a:prstGeom>
          <a:solidFill>
            <a:srgbClr val="2dcfbe"/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" name="CustomShape 9"/>
          <p:cNvSpPr/>
          <p:nvPr/>
        </p:nvSpPr>
        <p:spPr>
          <a:xfrm>
            <a:off x="859680" y="2406600"/>
            <a:ext cx="4910040" cy="38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5000"/>
              </a:lnSpc>
            </a:pPr>
            <a:r>
              <a:rPr b="0" lang="en-US" sz="1200" spc="-1" strike="noStrike">
                <a:solidFill>
                  <a:srgbClr val="dff0fb"/>
                </a:solidFill>
                <a:latin typeface="Aptos"/>
              </a:rPr>
              <a:t>Orchestrated with </a:t>
            </a:r>
            <a:r>
              <a:rPr b="0" lang="en-US" sz="1200" spc="-1" strike="noStrike">
                <a:solidFill>
                  <a:srgbClr val="6d9bbb"/>
                </a:solidFill>
                <a:latin typeface="Aptos"/>
              </a:rPr>
              <a:t>NVFlare</a:t>
            </a:r>
            <a:r>
              <a:rPr b="0" lang="en-US" sz="1200" spc="-1" strike="noStrike">
                <a:solidFill>
                  <a:srgbClr val="dff0fb"/>
                </a:solidFill>
                <a:latin typeface="Aptos"/>
              </a:rPr>
              <a:t> (NVIDIA Federated Learning Application Runtime Environment)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2" name="CustomShape 10"/>
          <p:cNvSpPr/>
          <p:nvPr/>
        </p:nvSpPr>
        <p:spPr>
          <a:xfrm>
            <a:off x="694800" y="3293640"/>
            <a:ext cx="54360" cy="54360"/>
          </a:xfrm>
          <a:prstGeom prst="rect">
            <a:avLst/>
          </a:prstGeom>
          <a:solidFill>
            <a:srgbClr val="2dcfbe"/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3" name="CustomShape 11"/>
          <p:cNvSpPr/>
          <p:nvPr/>
        </p:nvSpPr>
        <p:spPr>
          <a:xfrm>
            <a:off x="859680" y="3211200"/>
            <a:ext cx="4910040" cy="38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5000"/>
              </a:lnSpc>
            </a:pPr>
            <a:r>
              <a:rPr b="0" lang="en-US" sz="1200" spc="-1" strike="noStrike">
                <a:solidFill>
                  <a:srgbClr val="dff0fb"/>
                </a:solidFill>
                <a:latin typeface="Aptos"/>
              </a:rPr>
              <a:t>Custom OMOP dataloader for standardised ingestion across simulated sites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4" name="CustomShape 12"/>
          <p:cNvSpPr/>
          <p:nvPr/>
        </p:nvSpPr>
        <p:spPr>
          <a:xfrm>
            <a:off x="694800" y="4098240"/>
            <a:ext cx="54360" cy="54360"/>
          </a:xfrm>
          <a:prstGeom prst="rect">
            <a:avLst/>
          </a:prstGeom>
          <a:solidFill>
            <a:srgbClr val="2dcfbe"/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5" name="CustomShape 13"/>
          <p:cNvSpPr/>
          <p:nvPr/>
        </p:nvSpPr>
        <p:spPr>
          <a:xfrm>
            <a:off x="859680" y="4015800"/>
            <a:ext cx="4910040" cy="191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5000"/>
              </a:lnSpc>
            </a:pPr>
            <a:r>
              <a:rPr b="0" lang="en-US" sz="1200" spc="-1" strike="noStrike">
                <a:solidFill>
                  <a:srgbClr val="dff0fb"/>
                </a:solidFill>
                <a:latin typeface="Aptos"/>
              </a:rPr>
              <a:t>Federated Averaging (</a:t>
            </a:r>
            <a:r>
              <a:rPr b="0" lang="en-US" sz="1200" spc="-1" strike="noStrike">
                <a:solidFill>
                  <a:srgbClr val="6d9bbb"/>
                </a:solidFill>
                <a:latin typeface="Aptos"/>
              </a:rPr>
              <a:t>FedAvg</a:t>
            </a:r>
            <a:r>
              <a:rPr b="0" lang="en-US" sz="1200" spc="-1" strike="noStrike">
                <a:solidFill>
                  <a:srgbClr val="dff0fb"/>
                </a:solidFill>
                <a:latin typeface="Aptos"/>
              </a:rPr>
              <a:t>) baseline training strategy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6" name="CustomShape 14"/>
          <p:cNvSpPr/>
          <p:nvPr/>
        </p:nvSpPr>
        <p:spPr>
          <a:xfrm>
            <a:off x="6355080" y="2488680"/>
            <a:ext cx="54360" cy="54360"/>
          </a:xfrm>
          <a:prstGeom prst="rect">
            <a:avLst/>
          </a:prstGeom>
          <a:solidFill>
            <a:srgbClr val="2dcfbe"/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7" name="CustomShape 15"/>
          <p:cNvSpPr/>
          <p:nvPr/>
        </p:nvSpPr>
        <p:spPr>
          <a:xfrm>
            <a:off x="6519600" y="2406600"/>
            <a:ext cx="4910040" cy="191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5000"/>
              </a:lnSpc>
            </a:pPr>
            <a:r>
              <a:rPr b="0" lang="en-US" sz="1200" spc="-1" strike="noStrike">
                <a:solidFill>
                  <a:srgbClr val="dff0fb"/>
                </a:solidFill>
                <a:latin typeface="Aptos"/>
              </a:rPr>
              <a:t>Simple linear model trained across simulated federated sites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8" name="CustomShape 16"/>
          <p:cNvSpPr/>
          <p:nvPr/>
        </p:nvSpPr>
        <p:spPr>
          <a:xfrm>
            <a:off x="6355080" y="3293640"/>
            <a:ext cx="54360" cy="54360"/>
          </a:xfrm>
          <a:prstGeom prst="rect">
            <a:avLst/>
          </a:prstGeom>
          <a:solidFill>
            <a:srgbClr val="2dcfbe"/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9" name="CustomShape 17"/>
          <p:cNvSpPr/>
          <p:nvPr/>
        </p:nvSpPr>
        <p:spPr>
          <a:xfrm>
            <a:off x="6519600" y="3211200"/>
            <a:ext cx="4910040" cy="38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5000"/>
              </a:lnSpc>
            </a:pPr>
            <a:r>
              <a:rPr b="0" lang="en-US" sz="1200" spc="-1" strike="noStrike">
                <a:solidFill>
                  <a:srgbClr val="dff0fb"/>
                </a:solidFill>
                <a:latin typeface="Aptos"/>
              </a:rPr>
              <a:t>Goal is </a:t>
            </a:r>
            <a:r>
              <a:rPr b="0" lang="en-US" sz="1200" spc="-1" strike="noStrike">
                <a:solidFill>
                  <a:srgbClr val="6d9bbb"/>
                </a:solidFill>
                <a:latin typeface="Aptos"/>
              </a:rPr>
              <a:t>end-to-end pipeline functionality</a:t>
            </a:r>
            <a:r>
              <a:rPr b="0" lang="en-US" sz="1200" spc="-1" strike="noStrike">
                <a:solidFill>
                  <a:srgbClr val="dff0fb"/>
                </a:solidFill>
                <a:latin typeface="Aptos"/>
              </a:rPr>
              <a:t>, not predictive performance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0" name="CustomShape 18"/>
          <p:cNvSpPr/>
          <p:nvPr/>
        </p:nvSpPr>
        <p:spPr>
          <a:xfrm>
            <a:off x="6355080" y="4098240"/>
            <a:ext cx="54360" cy="54360"/>
          </a:xfrm>
          <a:prstGeom prst="rect">
            <a:avLst/>
          </a:prstGeom>
          <a:solidFill>
            <a:srgbClr val="2dcfbe"/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1" name="CustomShape 19"/>
          <p:cNvSpPr/>
          <p:nvPr/>
        </p:nvSpPr>
        <p:spPr>
          <a:xfrm>
            <a:off x="6519600" y="4015800"/>
            <a:ext cx="4910040" cy="191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5000"/>
              </a:lnSpc>
            </a:pPr>
            <a:r>
              <a:rPr b="0" lang="en-US" sz="1200" spc="-1" strike="noStrike">
                <a:solidFill>
                  <a:srgbClr val="dff0fb"/>
                </a:solidFill>
                <a:latin typeface="Aptos"/>
              </a:rPr>
              <a:t>Directly consumes OMOP output from Subproject 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2" name="CustomShape 20"/>
          <p:cNvSpPr/>
          <p:nvPr/>
        </p:nvSpPr>
        <p:spPr>
          <a:xfrm>
            <a:off x="10843200" y="6419160"/>
            <a:ext cx="258480" cy="13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6d9bbb"/>
                </a:solidFill>
                <a:latin typeface="Aptos"/>
              </a:rPr>
              <a:t>4 / 4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2026-09-17T13:21:07Z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