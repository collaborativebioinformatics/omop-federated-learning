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Concordia is Project 5 at the Nordic Biobank × NVIDIA Federated Learning Hackathon. One line: what keeps biobanks from training models together was never the learning, it is the data. We automated the data step.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Federated learning: several institutions train one model together. Each trains on its own data and shares only model weights. The tools exist, NVFlare for example. What is missing is harmonised data: every biobank stores its data differently, and a hand-built ETL (extract, transform, load) per source takes months. Concordia automates exactly that step: raw data in, harmonised OMOP out (OMOP is the common data model of the OHDSI community), quality controlled, then trained across sites. Nothing leaves the institution. Punchline: collaboration becomes a decision, not an engineering project.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 half repeats at every site. 1: raw biobank data. 2: an AI agent profiles the raw files and writes the mapping, a recipe that says which source field becomes which OMOP field and which source code becomes which standard concept. A domain expert approves ambiguous mappings; the AI only proposes. 3: the QC gate checks the four OMOP tables: are they there, how complete is each column, are dates valid and in order, how much was mapped. 4: the dataloader, omopflare, streams the tables to the GPU. Bottom half: NVFlare runs the federated loop. The server sends the model, each site trains on its own OMOP data and returns only weights, the server averages them (FedAvg) and starts the next round. The only thing that crosses a boundary is a weight vector. Bottom box: two end-to-end runs on simulated sites, Synthea and synthetic UK Biobank, and a proof-of-concept connection to HUNT Cloud via AWS.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Blind test: we generated a fresh Synthea run with 1,162 patients and let the agent write the mapping without seeing any OMOP output, only the data contract and a profile of the raw files. Then we compared it with OHDSI's own expert-built conversion, ETL-Synthea. 254,882 of 254,891 measurement values are identical; the 9 differences are negative LDL values that ETL-Synthea leaves empty. Diagnoses: no differences. 11 person rows differ on race, and there the contract is right. 8 seconds for 2.1 GB, on DuckDB, no database server. The same skill maps the raw UK Biobank extract, and all eight assessment centres pass the contract. QC then caught what both conversions let through: negative LDL values, and HbA1c (long-term blood sugar) with a median of 3.9 %, well below real adults. That is a Synthea artefact, flagged before anyone trains on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Benchmark on one real cohort of 964 patients, split into 1, 2, 4, 8 and 16 sites. AUROC measures how well a model separates cases from non-cases: 0.5 is a coin flip, 1.0 is perfect. Orange: each site trains alone. It drops from 0.87 to 0.77 as the sites get smaller. Blue: federated. It holds between 0.87 and 0.92. Green, labelled centralized, is pooled training with all data in one place, the usual upper bound. Federated stays level with pooled, and no site shared a single 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it scale? One site grown to a million patients and 3.39 billion rows. Left, time: above about 10,000 patients, ten times the data costs ten times the time, so it grows linearly. Scanning a million patients with DuckDB takes 7.9 s, building the feature matrix 7.7 s, one training epoch 1.1 s. Right, memory: 1000 times the rows costs only 6 times the memory, 6.2 GB at a million patients, because the raw rows are never all loaded at once. A real NVFlare FedAvg job over the same million patients, split across three clients, takes 42 s for five rounds.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training anything, the QC plots show whether federating is worth it. Each panel: the cohort funnel (who is left to train on), the case rate per site, systolic blood pressure against the plausible range, and cases against controls. Synthea: the case rate differs 7-fold between sites, and the most different site is 0.79 standard deviations from the pooled mean. The sites genuinely differ, so federating adds something. Synthetic UK Biobank: the case rate varies only 1.6-fold, and every centre is within 0.03 standard deviations of the pooled mean, effectively eight copies of one cohort. Nothing to reconcile. Standard deviation measures spread; 0.03 SD means practically identical.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predict new (incident) type 2 diabetes. Left: what each site holds. Sizes and case rates differ a lot. Middle: AUROC on the pooled held-out cohort. Federated 0.582 against pooled 0.586, practically identical. The smallest site alone scores 0.433, worse than chance. Right: coefficients estimated by single sites scatter widely; the federated estimate sits close to pooled. Honest caveat: only 23 held-out cases, so the intervals overlap. This supports federated matching pooled, not a significant gap between single sites and federated.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negative control. In synthetic UK Biobank data the fields are generated independently, so there is no real signal to find. 40,671 people in eight assessment centres, 198 new diabetes cases. A sound method must not invent a signal, and none does: every interval covers 0.5, which is chance. Single centres on their own show apparent signal between 0.430 and 0.575, noise from small samples. Federated lands at 0.511. Federation does not manufacture results; it averages the noise out.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in the public repository. omop_skill is subproject 1: raw data to OMOP, and the checks. omopflare is subproject 2: the dataloader and federated learning with NVFlare. The commands on the right reproduce the Synthea run: map one site, validate it against the contract, then train federated over the five sites. Any coding agent starts at AGENTS.md, which points to the single instruction file omop_skill/SKILL.md.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limits. It is a proof of concept: the data is synthetic, the sites are simulated, and the federated benchmark uses one real cohort. The AI drafts every mapping, but a person approves every mapping, by design. Four OMOP tables so far, and two source families. Next: HUNT Cloud over AWS, real infrastructure and a real institutional boundary. The prototype already has a proof-of-concept connection there.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raw biobank data in, harmonised OMOP out, quality controlled, trained across sites, and nothing leaves the institution. With the technical barrier gone, collaboration becomes a decision. Thank you.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for questions: plain-language explanations of the terms used in the talk.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for questions: plain-language explanations of the terms used in the talk.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691640"/>
            <a:ext cx="1097280" cy="7315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74519"/>
            <a:ext cx="10515600" cy="1097280"/>
          </a:xfrm>
          <a:prstGeom prst="rect">
            <a:avLst/>
          </a:prstGeom>
          <a:noFill/>
        </p:spPr>
        <p:txBody>
          <a:bodyPr wrap="square" lIns="0" rIns="0" tIns="0" bIns="0" anchor="t">
            <a:noAutofit/>
          </a:bodyPr>
          <a:lstStyle/>
          <a:p>
            <a:pPr algn="l">
              <a:spcAft>
                <a:spcPts val="600"/>
              </a:spcAft>
            </a:pPr>
            <a:r>
              <a:rPr sz="6600" b="1" i="0">
                <a:solidFill>
                  <a:srgbClr val="FFFFFF"/>
                </a:solidFill>
                <a:latin typeface="Arial"/>
              </a:rPr>
              <a:t>Concordia</a:t>
            </a:r>
          </a:p>
        </p:txBody>
      </p:sp>
      <p:sp>
        <p:nvSpPr>
          <p:cNvPr id="5" name="TextBox 4"/>
          <p:cNvSpPr txBox="1"/>
          <p:nvPr/>
        </p:nvSpPr>
        <p:spPr>
          <a:xfrm>
            <a:off x="822960" y="3063240"/>
            <a:ext cx="10515600" cy="640080"/>
          </a:xfrm>
          <a:prstGeom prst="rect">
            <a:avLst/>
          </a:prstGeom>
          <a:noFill/>
        </p:spPr>
        <p:txBody>
          <a:bodyPr wrap="square" lIns="0" rIns="0" tIns="0" bIns="0" anchor="t">
            <a:noAutofit/>
          </a:bodyPr>
          <a:lstStyle/>
          <a:p>
            <a:pPr algn="l">
              <a:spcAft>
                <a:spcPts val="600"/>
              </a:spcAft>
            </a:pPr>
            <a:r>
              <a:rPr sz="3000" b="0" i="0">
                <a:solidFill>
                  <a:srgbClr val="5EEAD4"/>
                </a:solidFill>
                <a:latin typeface="Arial"/>
              </a:rPr>
              <a:t>The bottleneck was never the learning.</a:t>
            </a:r>
          </a:p>
        </p:txBody>
      </p:sp>
      <p:sp>
        <p:nvSpPr>
          <p:cNvPr id="6" name="TextBox 5"/>
          <p:cNvSpPr txBox="1"/>
          <p:nvPr/>
        </p:nvSpPr>
        <p:spPr>
          <a:xfrm>
            <a:off x="822960" y="3794760"/>
            <a:ext cx="10515600" cy="548640"/>
          </a:xfrm>
          <a:prstGeom prst="rect">
            <a:avLst/>
          </a:prstGeom>
          <a:noFill/>
        </p:spPr>
        <p:txBody>
          <a:bodyPr wrap="square" lIns="0" rIns="0" tIns="0" bIns="0" anchor="t">
            <a:noAutofit/>
          </a:bodyPr>
          <a:lstStyle/>
          <a:p>
            <a:pPr algn="l">
              <a:spcAft>
                <a:spcPts val="600"/>
              </a:spcAft>
            </a:pPr>
            <a:r>
              <a:rPr sz="2000" b="0" i="0">
                <a:solidFill>
                  <a:srgbClr val="CBD5E1"/>
                </a:solidFill>
                <a:latin typeface="Arial"/>
              </a:rPr>
              <a:t>Automated biobank-to-OMOP harmonisation for federated analysis</a:t>
            </a:r>
          </a:p>
        </p:txBody>
      </p:sp>
      <p:sp>
        <p:nvSpPr>
          <p:cNvPr id="7" name="TextBox 6"/>
          <p:cNvSpPr txBox="1"/>
          <p:nvPr/>
        </p:nvSpPr>
        <p:spPr>
          <a:xfrm>
            <a:off x="822960" y="5715000"/>
            <a:ext cx="10515600" cy="731520"/>
          </a:xfrm>
          <a:prstGeom prst="rect">
            <a:avLst/>
          </a:prstGeom>
          <a:noFill/>
        </p:spPr>
        <p:txBody>
          <a:bodyPr wrap="square" lIns="0" rIns="0" tIns="0" bIns="0" anchor="t">
            <a:noAutofit/>
          </a:bodyPr>
          <a:lstStyle/>
          <a:p>
            <a:pPr algn="l">
              <a:spcAft>
                <a:spcPts val="600"/>
              </a:spcAft>
            </a:pPr>
            <a:r>
              <a:rPr sz="1400" b="0" i="0">
                <a:solidFill>
                  <a:srgbClr val="94A3B8"/>
                </a:solidFill>
                <a:latin typeface="Arial"/>
              </a:rPr>
              <a:t>Project 5 · Nordic Biobank × NVIDIA Federated Learning Hackathon · Copenhagen 2026</a:t>
            </a:r>
          </a:p>
          <a:p>
            <a:pPr algn="l">
              <a:spcAft>
                <a:spcPts val="600"/>
              </a:spcAft>
            </a:pPr>
            <a:r>
              <a:rPr sz="1400" b="0" i="0">
                <a:solidFill>
                  <a:srgbClr val="94A3B8"/>
                </a:solidFill>
                <a:latin typeface="Arial"/>
              </a:rPr>
              <a:t>github.com/collaborativebioinformatics/OMOP-federated-learning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640080"/>
          </a:xfrm>
          <a:prstGeom prst="rect">
            <a:avLst/>
          </a:prstGeom>
          <a:noFill/>
        </p:spPr>
        <p:txBody>
          <a:bodyPr wrap="square" lIns="0" rIns="0" tIns="0" bIns="0" anchor="t">
            <a:noAutofit/>
          </a:bodyPr>
          <a:lstStyle/>
          <a:p>
            <a:pPr algn="l">
              <a:spcAft>
                <a:spcPts val="600"/>
              </a:spcAft>
            </a:pPr>
            <a:r>
              <a:rPr sz="3000" b="1" i="0">
                <a:solidFill>
                  <a:srgbClr val="0B1220"/>
                </a:solidFill>
                <a:latin typeface="Arial"/>
              </a:rPr>
              <a:t>Federated learning works. It almost never happens.</a:t>
            </a:r>
          </a:p>
        </p:txBody>
      </p:sp>
      <p:sp>
        <p:nvSpPr>
          <p:cNvPr id="4" name="TextBox 3"/>
          <p:cNvSpPr txBox="1"/>
          <p:nvPr/>
        </p:nvSpPr>
        <p:spPr>
          <a:xfrm>
            <a:off x="548640" y="6464808"/>
            <a:ext cx="5486400" cy="274320"/>
          </a:xfrm>
          <a:prstGeom prst="rect">
            <a:avLst/>
          </a:prstGeom>
          <a:noFill/>
        </p:spPr>
        <p:txBody>
          <a:bodyPr wrap="square" lIns="0" rIns="0" tIns="0" bIns="0" anchor="t">
            <a:noAutofit/>
          </a:bodyPr>
          <a:lstStyle/>
          <a:p>
            <a:pPr algn="l">
              <a:spcAft>
                <a:spcPts val="600"/>
              </a:spcAft>
            </a:pPr>
            <a:r>
              <a:rPr sz="1000" b="0" i="0">
                <a:solidFill>
                  <a:srgbClr val="64748B"/>
                </a:solidFill>
                <a:latin typeface="Arial"/>
              </a:rPr>
              <a:t>Concordia · Project 5 · Copenhagen 2026</a:t>
            </a:r>
          </a:p>
        </p:txBody>
      </p:sp>
      <p:sp>
        <p:nvSpPr>
          <p:cNvPr id="5" name="TextBox 4"/>
          <p:cNvSpPr txBox="1"/>
          <p:nvPr/>
        </p:nvSpPr>
        <p:spPr>
          <a:xfrm>
            <a:off x="548640" y="1371600"/>
            <a:ext cx="6309360" cy="3931920"/>
          </a:xfrm>
          <a:prstGeom prst="rect">
            <a:avLst/>
          </a:prstGeom>
          <a:noFill/>
        </p:spPr>
        <p:txBody>
          <a:bodyPr wrap="square" lIns="0" rIns="0" tIns="0" bIns="0" anchor="t">
            <a:noAutofit/>
          </a:bodyPr>
          <a:lstStyle/>
          <a:p>
            <a:pPr algn="l" marL="279400" indent="-279400">
              <a:spcAft>
                <a:spcPts val="1600"/>
              </a:spcAft>
              <a:buClr>
                <a:srgbClr val="14B8A6"/>
              </a:buClr>
              <a:buFont typeface="Arial"/>
              <a:buChar char="•"/>
            </a:pPr>
            <a:r>
              <a:rPr sz="2000" b="0" i="0">
                <a:solidFill>
                  <a:srgbClr val="1E293B"/>
                </a:solidFill>
                <a:latin typeface="Arial"/>
              </a:rPr>
              <a:t>Federated learning lets many institutions train one model together. The data never leaves any of them.</a:t>
            </a:r>
          </a:p>
          <a:p>
            <a:pPr algn="l" marL="279400" indent="-279400">
              <a:spcAft>
                <a:spcPts val="1600"/>
              </a:spcAft>
              <a:buClr>
                <a:srgbClr val="14B8A6"/>
              </a:buClr>
              <a:buFont typeface="Arial"/>
              <a:buChar char="•"/>
            </a:pPr>
            <a:r>
              <a:rPr sz="2000" b="0" i="0">
                <a:solidFill>
                  <a:srgbClr val="1E293B"/>
                </a:solidFill>
                <a:latin typeface="Arial"/>
              </a:rPr>
              <a:t>It has worked for years, and is still rarely used.</a:t>
            </a:r>
          </a:p>
          <a:p>
            <a:pPr algn="l" marL="279400" indent="-279400">
              <a:spcAft>
                <a:spcPts val="1600"/>
              </a:spcAft>
              <a:buClr>
                <a:srgbClr val="14B8A6"/>
              </a:buClr>
              <a:buFont typeface="Arial"/>
              <a:buChar char="•"/>
            </a:pPr>
            <a:r>
              <a:rPr sz="2000" b="0" i="0">
                <a:solidFill>
                  <a:srgbClr val="1E293B"/>
                </a:solidFill>
                <a:latin typeface="Arial"/>
              </a:rPr>
              <a:t>The blocker is the data: every biobank stores it differently.</a:t>
            </a:r>
          </a:p>
          <a:p>
            <a:pPr algn="l" marL="279400" indent="-279400">
              <a:spcAft>
                <a:spcPts val="1600"/>
              </a:spcAft>
              <a:buClr>
                <a:srgbClr val="14B8A6"/>
              </a:buClr>
              <a:buFont typeface="Arial"/>
              <a:buChar char="•"/>
            </a:pPr>
            <a:r>
              <a:rPr sz="2000" b="0" i="0">
                <a:solidFill>
                  <a:srgbClr val="1E293B"/>
                </a:solidFill>
                <a:latin typeface="Arial"/>
              </a:rPr>
              <a:t>Converting one source into a common format by hand takes months, and every source needs its own.</a:t>
            </a:r>
          </a:p>
        </p:txBody>
      </p:sp>
      <p:sp>
        <p:nvSpPr>
          <p:cNvPr id="6" name="Rounded Rectangle 5"/>
          <p:cNvSpPr/>
          <p:nvPr/>
        </p:nvSpPr>
        <p:spPr>
          <a:xfrm>
            <a:off x="7315200" y="1325880"/>
            <a:ext cx="4325112" cy="3931920"/>
          </a:xfrm>
          <a:prstGeom prst="roundRect">
            <a:avLst>
              <a:gd name="adj" fmla="val 2325"/>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0" y="1554480"/>
            <a:ext cx="3776472" cy="365760"/>
          </a:xfrm>
          <a:prstGeom prst="rect">
            <a:avLst/>
          </a:prstGeom>
          <a:noFill/>
        </p:spPr>
        <p:txBody>
          <a:bodyPr wrap="square" lIns="0" rIns="0" tIns="0" bIns="0" anchor="t">
            <a:noAutofit/>
          </a:bodyPr>
          <a:lstStyle/>
          <a:p>
            <a:pPr algn="l">
              <a:spcAft>
                <a:spcPts val="600"/>
              </a:spcAft>
            </a:pPr>
            <a:r>
              <a:rPr sz="1400" b="1" i="0">
                <a:solidFill>
                  <a:srgbClr val="5EEAD4"/>
                </a:solidFill>
                <a:latin typeface="Arial"/>
              </a:rPr>
              <a:t>CONCORDIA AUTOMATES THAT STEP</a:t>
            </a:r>
          </a:p>
        </p:txBody>
      </p:sp>
      <p:sp>
        <p:nvSpPr>
          <p:cNvPr id="8" name="Rounded Rectangle 7"/>
          <p:cNvSpPr/>
          <p:nvPr/>
        </p:nvSpPr>
        <p:spPr>
          <a:xfrm>
            <a:off x="7589520" y="2057400"/>
            <a:ext cx="3776472" cy="502920"/>
          </a:xfrm>
          <a:prstGeom prst="roundRect">
            <a:avLst>
              <a:gd name="adj" fmla="val 12000"/>
            </a:avLst>
          </a:prstGeom>
          <a:solidFill>
            <a:srgbClr val="1E293B"/>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15214" bIns="115214" wrap="square">
            <a:noAutofit/>
          </a:bodyPr>
          <a:lstStyle/>
          <a:p>
            <a:pPr algn="l">
              <a:spcAft>
                <a:spcPts val="0"/>
              </a:spcAft>
            </a:pPr>
            <a:r>
              <a:rPr sz="1800" b="1" i="0">
                <a:solidFill>
                  <a:srgbClr val="5EEAD4"/>
                </a:solidFill>
                <a:latin typeface="Arial"/>
              </a:rPr>
              <a:t>1   </a:t>
            </a:r>
            <a:r>
              <a:rPr sz="1800" b="0" i="0">
                <a:solidFill>
                  <a:srgbClr val="FFFFFF"/>
                </a:solidFill>
                <a:latin typeface="Arial"/>
              </a:rPr>
              <a:t>Raw biobank data in</a:t>
            </a:r>
          </a:p>
        </p:txBody>
      </p:sp>
      <p:sp>
        <p:nvSpPr>
          <p:cNvPr id="9" name="Rounded Rectangle 8"/>
          <p:cNvSpPr/>
          <p:nvPr/>
        </p:nvSpPr>
        <p:spPr>
          <a:xfrm>
            <a:off x="7589520" y="2697480"/>
            <a:ext cx="3776472" cy="502920"/>
          </a:xfrm>
          <a:prstGeom prst="roundRect">
            <a:avLst>
              <a:gd name="adj" fmla="val 12000"/>
            </a:avLst>
          </a:prstGeom>
          <a:solidFill>
            <a:srgbClr val="1E293B"/>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15214" bIns="115214" wrap="square">
            <a:noAutofit/>
          </a:bodyPr>
          <a:lstStyle/>
          <a:p>
            <a:pPr algn="l">
              <a:spcAft>
                <a:spcPts val="0"/>
              </a:spcAft>
            </a:pPr>
            <a:r>
              <a:rPr sz="1800" b="1" i="0">
                <a:solidFill>
                  <a:srgbClr val="5EEAD4"/>
                </a:solidFill>
                <a:latin typeface="Arial"/>
              </a:rPr>
              <a:t>2   </a:t>
            </a:r>
            <a:r>
              <a:rPr sz="1800" b="0" i="0">
                <a:solidFill>
                  <a:srgbClr val="FFFFFF"/>
                </a:solidFill>
                <a:latin typeface="Arial"/>
              </a:rPr>
              <a:t>Harmonised OMOP out</a:t>
            </a:r>
          </a:p>
        </p:txBody>
      </p:sp>
      <p:sp>
        <p:nvSpPr>
          <p:cNvPr id="10" name="Rounded Rectangle 9"/>
          <p:cNvSpPr/>
          <p:nvPr/>
        </p:nvSpPr>
        <p:spPr>
          <a:xfrm>
            <a:off x="7589520" y="3337560"/>
            <a:ext cx="3776472" cy="502920"/>
          </a:xfrm>
          <a:prstGeom prst="roundRect">
            <a:avLst>
              <a:gd name="adj" fmla="val 12000"/>
            </a:avLst>
          </a:prstGeom>
          <a:solidFill>
            <a:srgbClr val="1E293B"/>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15214" bIns="115214" wrap="square">
            <a:noAutofit/>
          </a:bodyPr>
          <a:lstStyle/>
          <a:p>
            <a:pPr algn="l">
              <a:spcAft>
                <a:spcPts val="0"/>
              </a:spcAft>
            </a:pPr>
            <a:r>
              <a:rPr sz="1800" b="1" i="0">
                <a:solidFill>
                  <a:srgbClr val="5EEAD4"/>
                </a:solidFill>
                <a:latin typeface="Arial"/>
              </a:rPr>
              <a:t>3   </a:t>
            </a:r>
            <a:r>
              <a:rPr sz="1800" b="0" i="0">
                <a:solidFill>
                  <a:srgbClr val="FFFFFF"/>
                </a:solidFill>
                <a:latin typeface="Arial"/>
              </a:rPr>
              <a:t>Quality controlled</a:t>
            </a:r>
          </a:p>
        </p:txBody>
      </p:sp>
      <p:sp>
        <p:nvSpPr>
          <p:cNvPr id="11" name="Rounded Rectangle 10"/>
          <p:cNvSpPr/>
          <p:nvPr/>
        </p:nvSpPr>
        <p:spPr>
          <a:xfrm>
            <a:off x="7589520" y="3977639"/>
            <a:ext cx="3776472" cy="502920"/>
          </a:xfrm>
          <a:prstGeom prst="roundRect">
            <a:avLst>
              <a:gd name="adj" fmla="val 12000"/>
            </a:avLst>
          </a:prstGeom>
          <a:solidFill>
            <a:srgbClr val="1E293B"/>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15214" bIns="115214" wrap="square">
            <a:noAutofit/>
          </a:bodyPr>
          <a:lstStyle/>
          <a:p>
            <a:pPr algn="l">
              <a:spcAft>
                <a:spcPts val="0"/>
              </a:spcAft>
            </a:pPr>
            <a:r>
              <a:rPr sz="1800" b="1" i="0">
                <a:solidFill>
                  <a:srgbClr val="5EEAD4"/>
                </a:solidFill>
                <a:latin typeface="Arial"/>
              </a:rPr>
              <a:t>4   </a:t>
            </a:r>
            <a:r>
              <a:rPr sz="1800" b="0" i="0">
                <a:solidFill>
                  <a:srgbClr val="FFFFFF"/>
                </a:solidFill>
                <a:latin typeface="Arial"/>
              </a:rPr>
              <a:t>Trained across sites</a:t>
            </a:r>
          </a:p>
        </p:txBody>
      </p:sp>
      <p:sp>
        <p:nvSpPr>
          <p:cNvPr id="12" name="TextBox 11"/>
          <p:cNvSpPr txBox="1"/>
          <p:nvPr/>
        </p:nvSpPr>
        <p:spPr>
          <a:xfrm>
            <a:off x="7589520" y="4663440"/>
            <a:ext cx="3776472" cy="411480"/>
          </a:xfrm>
          <a:prstGeom prst="rect">
            <a:avLst/>
          </a:prstGeom>
          <a:noFill/>
        </p:spPr>
        <p:txBody>
          <a:bodyPr wrap="square" lIns="0" rIns="0" tIns="0" bIns="0" anchor="t">
            <a:noAutofit/>
          </a:bodyPr>
          <a:lstStyle/>
          <a:p>
            <a:pPr algn="l">
              <a:spcAft>
                <a:spcPts val="600"/>
              </a:spcAft>
            </a:pPr>
            <a:r>
              <a:rPr sz="1600" b="1" i="0">
                <a:solidFill>
                  <a:srgbClr val="5EEAD4"/>
                </a:solidFill>
                <a:latin typeface="Arial"/>
              </a:rPr>
              <a:t>Nothing leaves the institution.</a:t>
            </a:r>
          </a:p>
        </p:txBody>
      </p:sp>
      <p:sp>
        <p:nvSpPr>
          <p:cNvPr id="13" name="Rectangle 12"/>
          <p:cNvSpPr/>
          <p:nvPr/>
        </p:nvSpPr>
        <p:spPr>
          <a:xfrm>
            <a:off x="548640" y="5577840"/>
            <a:ext cx="73152"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577840"/>
            <a:ext cx="10881360" cy="502920"/>
          </a:xfrm>
          <a:prstGeom prst="rect">
            <a:avLst/>
          </a:prstGeom>
          <a:noFill/>
        </p:spPr>
        <p:txBody>
          <a:bodyPr wrap="square" lIns="0" rIns="0" tIns="0" bIns="0" anchor="ctr">
            <a:noAutofit/>
          </a:bodyPr>
          <a:lstStyle/>
          <a:p>
            <a:pPr algn="l">
              <a:spcAft>
                <a:spcPts val="600"/>
              </a:spcAft>
            </a:pPr>
            <a:r>
              <a:rPr sz="2200" b="1" i="0">
                <a:solidFill>
                  <a:srgbClr val="0B1220"/>
                </a:solidFill>
                <a:latin typeface="Arial"/>
              </a:rPr>
              <a:t>Collaboration stops being a technical problem. It becomes a choice.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cordia: from raw biobank data to a federated model"/>
          <p:cNvPicPr>
            <a:picLocks noChangeAspect="1"/>
          </p:cNvPicPr>
          <p:nvPr/>
        </p:nvPicPr>
        <p:blipFill>
          <a:blip r:embed="rId2"/>
          <a:stretch>
            <a:fillRect/>
          </a:stretch>
        </p:blipFill>
        <p:spPr>
          <a:xfrm>
            <a:off x="0" y="0"/>
            <a:ext cx="12191695" cy="685782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640080"/>
          </a:xfrm>
          <a:prstGeom prst="rect">
            <a:avLst/>
          </a:prstGeom>
          <a:noFill/>
        </p:spPr>
        <p:txBody>
          <a:bodyPr wrap="square" lIns="0" rIns="0" tIns="0" bIns="0" anchor="t">
            <a:noAutofit/>
          </a:bodyPr>
          <a:lstStyle/>
          <a:p>
            <a:pPr algn="l">
              <a:spcAft>
                <a:spcPts val="600"/>
              </a:spcAft>
            </a:pPr>
            <a:r>
              <a:rPr sz="3000" b="1" i="0">
                <a:solidFill>
                  <a:srgbClr val="0B1220"/>
                </a:solidFill>
                <a:latin typeface="Arial"/>
              </a:rPr>
              <a:t>The agent's mapping matches the expert ETL</a:t>
            </a:r>
          </a:p>
        </p:txBody>
      </p:sp>
      <p:sp>
        <p:nvSpPr>
          <p:cNvPr id="4" name="TextBox 3"/>
          <p:cNvSpPr txBox="1"/>
          <p:nvPr/>
        </p:nvSpPr>
        <p:spPr>
          <a:xfrm>
            <a:off x="548640" y="932688"/>
            <a:ext cx="11094415" cy="731520"/>
          </a:xfrm>
          <a:prstGeom prst="rect">
            <a:avLst/>
          </a:prstGeom>
          <a:noFill/>
        </p:spPr>
        <p:txBody>
          <a:bodyPr wrap="square" lIns="0" rIns="0" tIns="0" bIns="0" anchor="t">
            <a:noAutofit/>
          </a:bodyPr>
          <a:lstStyle/>
          <a:p>
            <a:pPr algn="l">
              <a:spcAft>
                <a:spcPts val="600"/>
              </a:spcAft>
            </a:pPr>
            <a:r>
              <a:rPr sz="1600" b="0" i="0">
                <a:solidFill>
                  <a:srgbClr val="64748B"/>
                </a:solidFill>
                <a:latin typeface="Arial"/>
              </a:rPr>
              <a:t>Blind test, 1,162 fresh Synthea patients: the agent saw only the data contract and a profile of the raw files.</a:t>
            </a:r>
          </a:p>
        </p:txBody>
      </p:sp>
      <p:sp>
        <p:nvSpPr>
          <p:cNvPr id="5" name="TextBox 4"/>
          <p:cNvSpPr txBox="1"/>
          <p:nvPr/>
        </p:nvSpPr>
        <p:spPr>
          <a:xfrm>
            <a:off x="548640" y="6464808"/>
            <a:ext cx="5486400" cy="274320"/>
          </a:xfrm>
          <a:prstGeom prst="rect">
            <a:avLst/>
          </a:prstGeom>
          <a:noFill/>
        </p:spPr>
        <p:txBody>
          <a:bodyPr wrap="square" lIns="0" rIns="0" tIns="0" bIns="0" anchor="t">
            <a:noAutofit/>
          </a:bodyPr>
          <a:lstStyle/>
          <a:p>
            <a:pPr algn="l">
              <a:spcAft>
                <a:spcPts val="600"/>
              </a:spcAft>
            </a:pPr>
            <a:r>
              <a:rPr sz="1000" b="0" i="0">
                <a:solidFill>
                  <a:srgbClr val="64748B"/>
                </a:solidFill>
                <a:latin typeface="Arial"/>
              </a:rPr>
              <a:t>Concordia · Project 5 · Copenhagen 2026</a:t>
            </a:r>
          </a:p>
        </p:txBody>
      </p:sp>
      <p:sp>
        <p:nvSpPr>
          <p:cNvPr id="6" name="Rounded Rectangle 5"/>
          <p:cNvSpPr/>
          <p:nvPr/>
        </p:nvSpPr>
        <p:spPr>
          <a:xfrm>
            <a:off x="548640" y="1600200"/>
            <a:ext cx="2567863" cy="2240280"/>
          </a:xfrm>
          <a:prstGeom prst="roundRect">
            <a:avLst>
              <a:gd name="adj" fmla="val 408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0817" bIns="140817" wrap="square">
            <a:noAutofit/>
          </a:bodyPr>
          <a:lstStyle/>
          <a:p>
            <a:pPr algn="l">
              <a:spcAft>
                <a:spcPts val="200"/>
              </a:spcAft>
            </a:pPr>
            <a:r>
              <a:rPr sz="3600" b="1" i="0">
                <a:solidFill>
                  <a:srgbClr val="0F766E"/>
                </a:solidFill>
                <a:latin typeface="Arial"/>
              </a:rPr>
              <a:t>99.996 %</a:t>
            </a:r>
          </a:p>
          <a:p>
            <a:pPr algn="l">
              <a:spcAft>
                <a:spcPts val="600"/>
              </a:spcAft>
            </a:pPr>
            <a:r>
              <a:rPr sz="1500" b="0" i="0">
                <a:solidFill>
                  <a:srgbClr val="1E293B"/>
                </a:solidFill>
                <a:latin typeface="Arial"/>
              </a:rPr>
              <a:t>of measurement values identical to OHDSI's ETL-Synthea (254,882 of 254,891)</a:t>
            </a:r>
          </a:p>
        </p:txBody>
      </p:sp>
      <p:sp>
        <p:nvSpPr>
          <p:cNvPr id="7" name="Rounded Rectangle 6"/>
          <p:cNvSpPr/>
          <p:nvPr/>
        </p:nvSpPr>
        <p:spPr>
          <a:xfrm>
            <a:off x="3390823" y="1600200"/>
            <a:ext cx="2567863" cy="2240280"/>
          </a:xfrm>
          <a:prstGeom prst="roundRect">
            <a:avLst>
              <a:gd name="adj" fmla="val 408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0817" bIns="140817" wrap="square">
            <a:noAutofit/>
          </a:bodyPr>
          <a:lstStyle/>
          <a:p>
            <a:pPr algn="l">
              <a:spcAft>
                <a:spcPts val="200"/>
              </a:spcAft>
            </a:pPr>
            <a:r>
              <a:rPr sz="3600" b="1" i="0">
                <a:solidFill>
                  <a:srgbClr val="0F766E"/>
                </a:solidFill>
                <a:latin typeface="Arial"/>
              </a:rPr>
              <a:t>0</a:t>
            </a:r>
          </a:p>
          <a:p>
            <a:pPr algn="l">
              <a:spcAft>
                <a:spcPts val="600"/>
              </a:spcAft>
            </a:pPr>
            <a:r>
              <a:rPr sz="1500" b="0" i="0">
                <a:solidFill>
                  <a:srgbClr val="1E293B"/>
                </a:solidFill>
                <a:latin typeface="Arial"/>
              </a:rPr>
              <a:t>differences in diagnoses</a:t>
            </a:r>
          </a:p>
        </p:txBody>
      </p:sp>
      <p:sp>
        <p:nvSpPr>
          <p:cNvPr id="8" name="Rounded Rectangle 7"/>
          <p:cNvSpPr/>
          <p:nvPr/>
        </p:nvSpPr>
        <p:spPr>
          <a:xfrm>
            <a:off x="6233007" y="1600200"/>
            <a:ext cx="2567863" cy="2240280"/>
          </a:xfrm>
          <a:prstGeom prst="roundRect">
            <a:avLst>
              <a:gd name="adj" fmla="val 408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0817" bIns="140817" wrap="square">
            <a:noAutofit/>
          </a:bodyPr>
          <a:lstStyle/>
          <a:p>
            <a:pPr algn="l">
              <a:spcAft>
                <a:spcPts val="200"/>
              </a:spcAft>
            </a:pPr>
            <a:r>
              <a:rPr sz="3600" b="1" i="0">
                <a:solidFill>
                  <a:srgbClr val="0F766E"/>
                </a:solidFill>
                <a:latin typeface="Arial"/>
              </a:rPr>
              <a:t>8 s</a:t>
            </a:r>
          </a:p>
          <a:p>
            <a:pPr algn="l">
              <a:spcAft>
                <a:spcPts val="600"/>
              </a:spcAft>
            </a:pPr>
            <a:r>
              <a:rPr sz="1500" b="0" i="0">
                <a:solidFill>
                  <a:srgbClr val="1E293B"/>
                </a:solidFill>
                <a:latin typeface="Arial"/>
              </a:rPr>
              <a:t>for 2.1 GB of raw data, no database server</a:t>
            </a:r>
          </a:p>
        </p:txBody>
      </p:sp>
      <p:sp>
        <p:nvSpPr>
          <p:cNvPr id="9" name="Rounded Rectangle 8"/>
          <p:cNvSpPr/>
          <p:nvPr/>
        </p:nvSpPr>
        <p:spPr>
          <a:xfrm>
            <a:off x="9075191" y="1600200"/>
            <a:ext cx="2567863" cy="2240280"/>
          </a:xfrm>
          <a:prstGeom prst="roundRect">
            <a:avLst>
              <a:gd name="adj" fmla="val 408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0817" bIns="140817" wrap="square">
            <a:noAutofit/>
          </a:bodyPr>
          <a:lstStyle/>
          <a:p>
            <a:pPr algn="l">
              <a:spcAft>
                <a:spcPts val="200"/>
              </a:spcAft>
            </a:pPr>
            <a:r>
              <a:rPr sz="3600" b="1" i="0">
                <a:solidFill>
                  <a:srgbClr val="0F766E"/>
                </a:solidFill>
                <a:latin typeface="Arial"/>
              </a:rPr>
              <a:t>8 / 8</a:t>
            </a:r>
          </a:p>
          <a:p>
            <a:pPr algn="l">
              <a:spcAft>
                <a:spcPts val="600"/>
              </a:spcAft>
            </a:pPr>
            <a:r>
              <a:rPr sz="1500" b="0" i="0">
                <a:solidFill>
                  <a:srgbClr val="1E293B"/>
                </a:solidFill>
                <a:latin typeface="Arial"/>
              </a:rPr>
              <a:t>UK Biobank centres pass the contract, mapped by the same skill</a:t>
            </a:r>
          </a:p>
        </p:txBody>
      </p:sp>
      <p:sp>
        <p:nvSpPr>
          <p:cNvPr id="10" name="Rounded Rectangle 9"/>
          <p:cNvSpPr/>
          <p:nvPr/>
        </p:nvSpPr>
        <p:spPr>
          <a:xfrm>
            <a:off x="548640" y="4206240"/>
            <a:ext cx="11094415" cy="1005840"/>
          </a:xfrm>
          <a:prstGeom prst="roundRect">
            <a:avLst>
              <a:gd name="adj" fmla="val 909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tIns="160020" bIns="160020" wrap="square">
            <a:noAutofit/>
          </a:bodyPr>
          <a:lstStyle/>
          <a:p>
            <a:pPr algn="l">
              <a:spcAft>
                <a:spcPts val="0"/>
              </a:spcAft>
            </a:pPr>
            <a:r>
              <a:rPr sz="1800" b="1" i="0">
                <a:solidFill>
                  <a:srgbClr val="92400E"/>
                </a:solidFill>
                <a:latin typeface="Arial"/>
              </a:rPr>
              <a:t>QC caught what both conversions let through: </a:t>
            </a:r>
            <a:r>
              <a:rPr sz="1800" b="0" i="0">
                <a:solidFill>
                  <a:srgbClr val="1E293B"/>
                </a:solidFill>
                <a:latin typeface="Arial"/>
              </a:rPr>
              <a:t>negative LDL values, and an HbA1c median of 3.9 % (real adults: about 5–6 %).</a:t>
            </a:r>
          </a:p>
        </p:txBody>
      </p:sp>
      <p:sp>
        <p:nvSpPr>
          <p:cNvPr id="11" name="TextBox 10"/>
          <p:cNvSpPr txBox="1"/>
          <p:nvPr/>
        </p:nvSpPr>
        <p:spPr>
          <a:xfrm>
            <a:off x="548640" y="5532120"/>
            <a:ext cx="11094415" cy="365760"/>
          </a:xfrm>
          <a:prstGeom prst="rect">
            <a:avLst/>
          </a:prstGeom>
          <a:noFill/>
        </p:spPr>
        <p:txBody>
          <a:bodyPr wrap="square" lIns="0" rIns="0" tIns="0" bIns="0" anchor="t">
            <a:noAutofit/>
          </a:bodyPr>
          <a:lstStyle/>
          <a:p>
            <a:pPr algn="l">
              <a:spcAft>
                <a:spcPts val="600"/>
              </a:spcAft>
            </a:pPr>
            <a:r>
              <a:rPr sz="1400" b="0" i="0">
                <a:solidFill>
                  <a:srgbClr val="64748B"/>
                </a:solidFill>
                <a:latin typeface="Arial"/>
              </a:rPr>
              <a:t>All 22 concept IDs in the contract were checked against the Athena vocabulary v5.0 (29 Aug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640080"/>
          </a:xfrm>
          <a:prstGeom prst="rect">
            <a:avLst/>
          </a:prstGeom>
          <a:noFill/>
        </p:spPr>
        <p:txBody>
          <a:bodyPr wrap="square" lIns="0" rIns="0" tIns="0" bIns="0" anchor="t">
            <a:noAutofit/>
          </a:bodyPr>
          <a:lstStyle/>
          <a:p>
            <a:pPr algn="l">
              <a:spcAft>
                <a:spcPts val="600"/>
              </a:spcAft>
            </a:pPr>
            <a:r>
              <a:rPr sz="3000" b="1" i="0">
                <a:solidFill>
                  <a:srgbClr val="0B1220"/>
                </a:solidFill>
                <a:latin typeface="Arial"/>
              </a:rPr>
              <a:t>Federation recovers what fragmentation costs</a:t>
            </a:r>
          </a:p>
        </p:txBody>
      </p:sp>
      <p:sp>
        <p:nvSpPr>
          <p:cNvPr id="4" name="TextBox 3"/>
          <p:cNvSpPr txBox="1"/>
          <p:nvPr/>
        </p:nvSpPr>
        <p:spPr>
          <a:xfrm>
            <a:off x="548640" y="6464808"/>
            <a:ext cx="5486400" cy="274320"/>
          </a:xfrm>
          <a:prstGeom prst="rect">
            <a:avLst/>
          </a:prstGeom>
          <a:noFill/>
        </p:spPr>
        <p:txBody>
          <a:bodyPr wrap="square" lIns="0" rIns="0" tIns="0" bIns="0" anchor="t">
            <a:noAutofit/>
          </a:bodyPr>
          <a:lstStyle/>
          <a:p>
            <a:pPr algn="l">
              <a:spcAft>
                <a:spcPts val="600"/>
              </a:spcAft>
            </a:pPr>
            <a:r>
              <a:rPr sz="1000" b="0" i="0">
                <a:solidFill>
                  <a:srgbClr val="64748B"/>
                </a:solidFill>
                <a:latin typeface="Arial"/>
              </a:rPr>
              <a:t>Concordia · Project 5 · Copenhagen 2026</a:t>
            </a:r>
          </a:p>
        </p:txBody>
      </p:sp>
      <p:pic>
        <p:nvPicPr>
          <p:cNvPr id="5" name="Picture 4" descr="Fragmenting a cohort costs a local model 10 AUROC points; federating recovers them"/>
          <p:cNvPicPr>
            <a:picLocks noChangeAspect="1"/>
          </p:cNvPicPr>
          <p:nvPr/>
        </p:nvPicPr>
        <p:blipFill>
          <a:blip r:embed="rId2"/>
          <a:stretch>
            <a:fillRect/>
          </a:stretch>
        </p:blipFill>
        <p:spPr>
          <a:xfrm>
            <a:off x="548640" y="1097280"/>
            <a:ext cx="6257553" cy="5166360"/>
          </a:xfrm>
          <a:prstGeom prst="rect">
            <a:avLst/>
          </a:prstGeom>
        </p:spPr>
      </p:pic>
      <p:sp>
        <p:nvSpPr>
          <p:cNvPr id="6" name="TextBox 5"/>
          <p:cNvSpPr txBox="1"/>
          <p:nvPr/>
        </p:nvSpPr>
        <p:spPr>
          <a:xfrm>
            <a:off x="7223760" y="1371600"/>
            <a:ext cx="4389120" cy="1097280"/>
          </a:xfrm>
          <a:prstGeom prst="rect">
            <a:avLst/>
          </a:prstGeom>
          <a:noFill/>
        </p:spPr>
        <p:txBody>
          <a:bodyPr wrap="square" lIns="0" rIns="0" tIns="0" bIns="0" anchor="t">
            <a:noAutofit/>
          </a:bodyPr>
          <a:lstStyle/>
          <a:p>
            <a:pPr algn="l">
              <a:spcAft>
                <a:spcPts val="200"/>
              </a:spcAft>
            </a:pPr>
            <a:r>
              <a:rPr sz="4000" b="1" i="0">
                <a:solidFill>
                  <a:srgbClr val="1E293B"/>
                </a:solidFill>
                <a:latin typeface="Arial"/>
              </a:rPr>
              <a:t>964 patients</a:t>
            </a:r>
          </a:p>
          <a:p>
            <a:pPr algn="l">
              <a:spcAft>
                <a:spcPts val="600"/>
              </a:spcAft>
            </a:pPr>
            <a:r>
              <a:rPr sz="1600" b="0" i="0">
                <a:solidFill>
                  <a:srgbClr val="1E293B"/>
                </a:solidFill>
                <a:latin typeface="Arial"/>
              </a:rPr>
              <a:t>one real cohort, split across 1 to 16 sites</a:t>
            </a:r>
          </a:p>
        </p:txBody>
      </p:sp>
      <p:sp>
        <p:nvSpPr>
          <p:cNvPr id="7" name="TextBox 6"/>
          <p:cNvSpPr txBox="1"/>
          <p:nvPr/>
        </p:nvSpPr>
        <p:spPr>
          <a:xfrm>
            <a:off x="7223760" y="2651760"/>
            <a:ext cx="4389120" cy="1097280"/>
          </a:xfrm>
          <a:prstGeom prst="rect">
            <a:avLst/>
          </a:prstGeom>
          <a:noFill/>
        </p:spPr>
        <p:txBody>
          <a:bodyPr wrap="square" lIns="0" rIns="0" tIns="0" bIns="0" anchor="t">
            <a:noAutofit/>
          </a:bodyPr>
          <a:lstStyle/>
          <a:p>
            <a:pPr algn="l">
              <a:spcAft>
                <a:spcPts val="200"/>
              </a:spcAft>
            </a:pPr>
            <a:r>
              <a:rPr sz="4000" b="1" i="0">
                <a:solidFill>
                  <a:srgbClr val="E8683A"/>
                </a:solidFill>
                <a:latin typeface="Arial"/>
              </a:rPr>
              <a:t>0.87 → 0.77</a:t>
            </a:r>
          </a:p>
          <a:p>
            <a:pPr algn="l">
              <a:spcAft>
                <a:spcPts val="600"/>
              </a:spcAft>
            </a:pPr>
            <a:r>
              <a:rPr sz="1600" b="0" i="0">
                <a:solidFill>
                  <a:srgbClr val="1E293B"/>
                </a:solidFill>
                <a:latin typeface="Arial"/>
              </a:rPr>
              <a:t>AUROC of a site that trains alone</a:t>
            </a:r>
          </a:p>
        </p:txBody>
      </p:sp>
      <p:sp>
        <p:nvSpPr>
          <p:cNvPr id="8" name="TextBox 7"/>
          <p:cNvSpPr txBox="1"/>
          <p:nvPr/>
        </p:nvSpPr>
        <p:spPr>
          <a:xfrm>
            <a:off x="7223760" y="3931920"/>
            <a:ext cx="4389120" cy="1097280"/>
          </a:xfrm>
          <a:prstGeom prst="rect">
            <a:avLst/>
          </a:prstGeom>
          <a:noFill/>
        </p:spPr>
        <p:txBody>
          <a:bodyPr wrap="square" lIns="0" rIns="0" tIns="0" bIns="0" anchor="t">
            <a:noAutofit/>
          </a:bodyPr>
          <a:lstStyle/>
          <a:p>
            <a:pPr algn="l">
              <a:spcAft>
                <a:spcPts val="200"/>
              </a:spcAft>
            </a:pPr>
            <a:r>
              <a:rPr sz="4000" b="1" i="0">
                <a:solidFill>
                  <a:srgbClr val="2878D6"/>
                </a:solidFill>
                <a:latin typeface="Arial"/>
              </a:rPr>
              <a:t>0.87 – 0.92</a:t>
            </a:r>
          </a:p>
          <a:p>
            <a:pPr algn="l">
              <a:spcAft>
                <a:spcPts val="600"/>
              </a:spcAft>
            </a:pPr>
            <a:r>
              <a:rPr sz="1600" b="0" i="0">
                <a:solidFill>
                  <a:srgbClr val="1E293B"/>
                </a:solidFill>
                <a:latin typeface="Arial"/>
              </a:rPr>
              <a:t>AUROC federated, level with pooled training</a:t>
            </a:r>
          </a:p>
        </p:txBody>
      </p:sp>
      <p:sp>
        <p:nvSpPr>
          <p:cNvPr id="9" name="TextBox 8"/>
          <p:cNvSpPr txBox="1"/>
          <p:nvPr/>
        </p:nvSpPr>
        <p:spPr>
          <a:xfrm>
            <a:off x="7223760" y="5257800"/>
            <a:ext cx="4389120" cy="457200"/>
          </a:xfrm>
          <a:prstGeom prst="rect">
            <a:avLst/>
          </a:prstGeom>
          <a:noFill/>
        </p:spPr>
        <p:txBody>
          <a:bodyPr wrap="square" lIns="0" rIns="0" tIns="0" bIns="0" anchor="t">
            <a:noAutofit/>
          </a:bodyPr>
          <a:lstStyle/>
          <a:p>
            <a:pPr algn="l">
              <a:spcAft>
                <a:spcPts val="600"/>
              </a:spcAft>
            </a:pPr>
            <a:r>
              <a:rPr sz="2200" b="1" i="0">
                <a:solidFill>
                  <a:srgbClr val="0F766E"/>
                </a:solidFill>
                <a:latin typeface="Arial"/>
              </a:rPr>
              <a:t>Nobody shared a row.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640080"/>
          </a:xfrm>
          <a:prstGeom prst="rect">
            <a:avLst/>
          </a:prstGeom>
          <a:noFill/>
        </p:spPr>
        <p:txBody>
          <a:bodyPr wrap="square" lIns="0" rIns="0" tIns="0" bIns="0" anchor="t">
            <a:noAutofit/>
          </a:bodyPr>
          <a:lstStyle/>
          <a:p>
            <a:pPr algn="l">
              <a:spcAft>
                <a:spcPts val="600"/>
              </a:spcAft>
            </a:pPr>
            <a:r>
              <a:rPr sz="3000" b="1" i="0">
                <a:solidFill>
                  <a:srgbClr val="0B1220"/>
                </a:solidFill>
                <a:latin typeface="Arial"/>
              </a:rPr>
              <a:t>It scales to a million patients</a:t>
            </a:r>
          </a:p>
        </p:txBody>
      </p:sp>
      <p:sp>
        <p:nvSpPr>
          <p:cNvPr id="4" name="TextBox 3"/>
          <p:cNvSpPr txBox="1"/>
          <p:nvPr/>
        </p:nvSpPr>
        <p:spPr>
          <a:xfrm>
            <a:off x="548640" y="6464808"/>
            <a:ext cx="5486400" cy="274320"/>
          </a:xfrm>
          <a:prstGeom prst="rect">
            <a:avLst/>
          </a:prstGeom>
          <a:noFill/>
        </p:spPr>
        <p:txBody>
          <a:bodyPr wrap="square" lIns="0" rIns="0" tIns="0" bIns="0" anchor="t">
            <a:noAutofit/>
          </a:bodyPr>
          <a:lstStyle/>
          <a:p>
            <a:pPr algn="l">
              <a:spcAft>
                <a:spcPts val="600"/>
              </a:spcAft>
            </a:pPr>
            <a:r>
              <a:rPr sz="1000" b="0" i="0">
                <a:solidFill>
                  <a:srgbClr val="64748B"/>
                </a:solidFill>
                <a:latin typeface="Arial"/>
              </a:rPr>
              <a:t>Concordia · Project 5 · Copenhagen 2026</a:t>
            </a:r>
          </a:p>
        </p:txBody>
      </p:sp>
      <p:pic>
        <p:nvPicPr>
          <p:cNvPr id="5" name="Picture 4" descr="Time and memory as one site grows to 1 million patients"/>
          <p:cNvPicPr>
            <a:picLocks noChangeAspect="1"/>
          </p:cNvPicPr>
          <p:nvPr/>
        </p:nvPicPr>
        <p:blipFill>
          <a:blip r:embed="rId2"/>
          <a:stretch>
            <a:fillRect/>
          </a:stretch>
        </p:blipFill>
        <p:spPr>
          <a:xfrm>
            <a:off x="1340967" y="1051560"/>
            <a:ext cx="9509760" cy="4264707"/>
          </a:xfrm>
          <a:prstGeom prst="rect">
            <a:avLst/>
          </a:prstGeom>
        </p:spPr>
      </p:pic>
      <p:sp>
        <p:nvSpPr>
          <p:cNvPr id="6" name="TextBox 5"/>
          <p:cNvSpPr txBox="1"/>
          <p:nvPr/>
        </p:nvSpPr>
        <p:spPr>
          <a:xfrm>
            <a:off x="548640" y="5440680"/>
            <a:ext cx="2109155" cy="868680"/>
          </a:xfrm>
          <a:prstGeom prst="rect">
            <a:avLst/>
          </a:prstGeom>
          <a:noFill/>
        </p:spPr>
        <p:txBody>
          <a:bodyPr wrap="square" lIns="0" rIns="0" tIns="0" bIns="0" anchor="t">
            <a:noAutofit/>
          </a:bodyPr>
          <a:lstStyle/>
          <a:p>
            <a:pPr algn="l">
              <a:spcAft>
                <a:spcPts val="200"/>
              </a:spcAft>
            </a:pPr>
            <a:r>
              <a:rPr sz="2400" b="1" i="0">
                <a:solidFill>
                  <a:srgbClr val="2878D6"/>
                </a:solidFill>
                <a:latin typeface="Arial"/>
              </a:rPr>
              <a:t>1,000,000</a:t>
            </a:r>
          </a:p>
          <a:p>
            <a:pPr algn="l">
              <a:spcAft>
                <a:spcPts val="600"/>
              </a:spcAft>
            </a:pPr>
            <a:r>
              <a:rPr sz="1300" b="0" i="0">
                <a:solidFill>
                  <a:srgbClr val="1E293B"/>
                </a:solidFill>
                <a:latin typeface="Arial"/>
              </a:rPr>
              <a:t>patients at one site</a:t>
            </a:r>
          </a:p>
        </p:txBody>
      </p:sp>
      <p:sp>
        <p:nvSpPr>
          <p:cNvPr id="7" name="TextBox 6"/>
          <p:cNvSpPr txBox="1"/>
          <p:nvPr/>
        </p:nvSpPr>
        <p:spPr>
          <a:xfrm>
            <a:off x="2794955" y="5440680"/>
            <a:ext cx="2109155" cy="868680"/>
          </a:xfrm>
          <a:prstGeom prst="rect">
            <a:avLst/>
          </a:prstGeom>
          <a:noFill/>
        </p:spPr>
        <p:txBody>
          <a:bodyPr wrap="square" lIns="0" rIns="0" tIns="0" bIns="0" anchor="t">
            <a:noAutofit/>
          </a:bodyPr>
          <a:lstStyle/>
          <a:p>
            <a:pPr algn="l">
              <a:spcAft>
                <a:spcPts val="200"/>
              </a:spcAft>
            </a:pPr>
            <a:r>
              <a:rPr sz="2400" b="1" i="0">
                <a:solidFill>
                  <a:srgbClr val="2878D6"/>
                </a:solidFill>
                <a:latin typeface="Arial"/>
              </a:rPr>
              <a:t>3.39 billion</a:t>
            </a:r>
          </a:p>
          <a:p>
            <a:pPr algn="l">
              <a:spcAft>
                <a:spcPts val="600"/>
              </a:spcAft>
            </a:pPr>
            <a:r>
              <a:rPr sz="1300" b="0" i="0">
                <a:solidFill>
                  <a:srgbClr val="1E293B"/>
                </a:solidFill>
                <a:latin typeface="Arial"/>
              </a:rPr>
              <a:t>rows</a:t>
            </a:r>
          </a:p>
        </p:txBody>
      </p:sp>
      <p:sp>
        <p:nvSpPr>
          <p:cNvPr id="8" name="TextBox 7"/>
          <p:cNvSpPr txBox="1"/>
          <p:nvPr/>
        </p:nvSpPr>
        <p:spPr>
          <a:xfrm>
            <a:off x="5041270" y="5440680"/>
            <a:ext cx="2109155" cy="868680"/>
          </a:xfrm>
          <a:prstGeom prst="rect">
            <a:avLst/>
          </a:prstGeom>
          <a:noFill/>
        </p:spPr>
        <p:txBody>
          <a:bodyPr wrap="square" lIns="0" rIns="0" tIns="0" bIns="0" anchor="t">
            <a:noAutofit/>
          </a:bodyPr>
          <a:lstStyle/>
          <a:p>
            <a:pPr algn="l">
              <a:spcAft>
                <a:spcPts val="200"/>
              </a:spcAft>
            </a:pPr>
            <a:r>
              <a:rPr sz="2400" b="1" i="0">
                <a:solidFill>
                  <a:srgbClr val="2878D6"/>
                </a:solidFill>
                <a:latin typeface="Arial"/>
              </a:rPr>
              <a:t>7.9 s</a:t>
            </a:r>
          </a:p>
          <a:p>
            <a:pPr algn="l">
              <a:spcAft>
                <a:spcPts val="600"/>
              </a:spcAft>
            </a:pPr>
            <a:r>
              <a:rPr sz="1300" b="0" i="0">
                <a:solidFill>
                  <a:srgbClr val="1E293B"/>
                </a:solidFill>
                <a:latin typeface="Arial"/>
              </a:rPr>
              <a:t>to scan them</a:t>
            </a:r>
          </a:p>
        </p:txBody>
      </p:sp>
      <p:sp>
        <p:nvSpPr>
          <p:cNvPr id="9" name="TextBox 8"/>
          <p:cNvSpPr txBox="1"/>
          <p:nvPr/>
        </p:nvSpPr>
        <p:spPr>
          <a:xfrm>
            <a:off x="7287585" y="5440680"/>
            <a:ext cx="2109155" cy="868680"/>
          </a:xfrm>
          <a:prstGeom prst="rect">
            <a:avLst/>
          </a:prstGeom>
          <a:noFill/>
        </p:spPr>
        <p:txBody>
          <a:bodyPr wrap="square" lIns="0" rIns="0" tIns="0" bIns="0" anchor="t">
            <a:noAutofit/>
          </a:bodyPr>
          <a:lstStyle/>
          <a:p>
            <a:pPr algn="l">
              <a:spcAft>
                <a:spcPts val="200"/>
              </a:spcAft>
            </a:pPr>
            <a:r>
              <a:rPr sz="2400" b="1" i="0">
                <a:solidFill>
                  <a:srgbClr val="2878D6"/>
                </a:solidFill>
                <a:latin typeface="Arial"/>
              </a:rPr>
              <a:t>6.2 GB</a:t>
            </a:r>
          </a:p>
          <a:p>
            <a:pPr algn="l">
              <a:spcAft>
                <a:spcPts val="600"/>
              </a:spcAft>
            </a:pPr>
            <a:r>
              <a:rPr sz="1300" b="0" i="0">
                <a:solidFill>
                  <a:srgbClr val="1E293B"/>
                </a:solidFill>
                <a:latin typeface="Arial"/>
              </a:rPr>
              <a:t>peak memory</a:t>
            </a:r>
          </a:p>
        </p:txBody>
      </p:sp>
      <p:sp>
        <p:nvSpPr>
          <p:cNvPr id="10" name="TextBox 9"/>
          <p:cNvSpPr txBox="1"/>
          <p:nvPr/>
        </p:nvSpPr>
        <p:spPr>
          <a:xfrm>
            <a:off x="9533900" y="5440680"/>
            <a:ext cx="2109155" cy="868680"/>
          </a:xfrm>
          <a:prstGeom prst="rect">
            <a:avLst/>
          </a:prstGeom>
          <a:noFill/>
        </p:spPr>
        <p:txBody>
          <a:bodyPr wrap="square" lIns="0" rIns="0" tIns="0" bIns="0" anchor="t">
            <a:noAutofit/>
          </a:bodyPr>
          <a:lstStyle/>
          <a:p>
            <a:pPr algn="l">
              <a:spcAft>
                <a:spcPts val="200"/>
              </a:spcAft>
            </a:pPr>
            <a:r>
              <a:rPr sz="2400" b="1" i="0">
                <a:solidFill>
                  <a:srgbClr val="2878D6"/>
                </a:solidFill>
                <a:latin typeface="Arial"/>
              </a:rPr>
              <a:t>42 s</a:t>
            </a:r>
          </a:p>
          <a:p>
            <a:pPr algn="l">
              <a:spcAft>
                <a:spcPts val="600"/>
              </a:spcAft>
            </a:pPr>
            <a:r>
              <a:rPr sz="1300" b="0" i="0">
                <a:solidFill>
                  <a:srgbClr val="1E293B"/>
                </a:solidFill>
                <a:latin typeface="Arial"/>
              </a:rPr>
              <a:t>NVFlare, 5 rounds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640080"/>
          </a:xfrm>
          <a:prstGeom prst="rect">
            <a:avLst/>
          </a:prstGeom>
          <a:noFill/>
        </p:spPr>
        <p:txBody>
          <a:bodyPr wrap="square" lIns="0" rIns="0" tIns="0" bIns="0" anchor="t">
            <a:noAutofit/>
          </a:bodyPr>
          <a:lstStyle/>
          <a:p>
            <a:pPr algn="l">
              <a:spcAft>
                <a:spcPts val="600"/>
              </a:spcAft>
            </a:pPr>
            <a:r>
              <a:rPr sz="3000" b="1" i="0">
                <a:solidFill>
                  <a:srgbClr val="0B1220"/>
                </a:solidFill>
                <a:latin typeface="Arial"/>
              </a:rPr>
              <a:t>QC answers the question before the model does</a:t>
            </a:r>
          </a:p>
        </p:txBody>
      </p:sp>
      <p:sp>
        <p:nvSpPr>
          <p:cNvPr id="4" name="TextBox 3"/>
          <p:cNvSpPr txBox="1"/>
          <p:nvPr/>
        </p:nvSpPr>
        <p:spPr>
          <a:xfrm>
            <a:off x="548640" y="932688"/>
            <a:ext cx="11094415" cy="731520"/>
          </a:xfrm>
          <a:prstGeom prst="rect">
            <a:avLst/>
          </a:prstGeom>
          <a:noFill/>
        </p:spPr>
        <p:txBody>
          <a:bodyPr wrap="square" lIns="0" rIns="0" tIns="0" bIns="0" anchor="t">
            <a:noAutofit/>
          </a:bodyPr>
          <a:lstStyle/>
          <a:p>
            <a:pPr algn="l">
              <a:spcAft>
                <a:spcPts val="600"/>
              </a:spcAft>
            </a:pPr>
            <a:r>
              <a:rPr sz="1600" b="0" i="0">
                <a:solidFill>
                  <a:srgbClr val="64748B"/>
                </a:solidFill>
                <a:latin typeface="Arial"/>
              </a:rPr>
              <a:t>Federation pays off only when the sites differ.</a:t>
            </a:r>
          </a:p>
        </p:txBody>
      </p:sp>
      <p:sp>
        <p:nvSpPr>
          <p:cNvPr id="5" name="TextBox 4"/>
          <p:cNvSpPr txBox="1"/>
          <p:nvPr/>
        </p:nvSpPr>
        <p:spPr>
          <a:xfrm>
            <a:off x="548640" y="6464808"/>
            <a:ext cx="5486400" cy="274320"/>
          </a:xfrm>
          <a:prstGeom prst="rect">
            <a:avLst/>
          </a:prstGeom>
          <a:noFill/>
        </p:spPr>
        <p:txBody>
          <a:bodyPr wrap="square" lIns="0" rIns="0" tIns="0" bIns="0" anchor="t">
            <a:noAutofit/>
          </a:bodyPr>
          <a:lstStyle/>
          <a:p>
            <a:pPr algn="l">
              <a:spcAft>
                <a:spcPts val="600"/>
              </a:spcAft>
            </a:pPr>
            <a:r>
              <a:rPr sz="1000" b="0" i="0">
                <a:solidFill>
                  <a:srgbClr val="64748B"/>
                </a:solidFill>
                <a:latin typeface="Arial"/>
              </a:rPr>
              <a:t>Concordia · Project 5 · Copenhagen 2026</a:t>
            </a:r>
          </a:p>
        </p:txBody>
      </p:sp>
      <p:sp>
        <p:nvSpPr>
          <p:cNvPr id="6" name="TextBox 5"/>
          <p:cNvSpPr txBox="1"/>
          <p:nvPr/>
        </p:nvSpPr>
        <p:spPr>
          <a:xfrm>
            <a:off x="548640" y="1371600"/>
            <a:ext cx="5358384" cy="365760"/>
          </a:xfrm>
          <a:prstGeom prst="rect">
            <a:avLst/>
          </a:prstGeom>
          <a:noFill/>
        </p:spPr>
        <p:txBody>
          <a:bodyPr wrap="square" lIns="0" rIns="0" tIns="0" bIns="0" anchor="t">
            <a:noAutofit/>
          </a:bodyPr>
          <a:lstStyle/>
          <a:p>
            <a:pPr algn="l">
              <a:spcAft>
                <a:spcPts val="600"/>
              </a:spcAft>
            </a:pPr>
            <a:r>
              <a:rPr sz="1800" b="1" i="0">
                <a:solidFill>
                  <a:srgbClr val="1E293B"/>
                </a:solidFill>
                <a:latin typeface="Arial"/>
              </a:rPr>
              <a:t>Synthea</a:t>
            </a:r>
            <a:r>
              <a:rPr sz="1800" b="0" i="0">
                <a:solidFill>
                  <a:srgbClr val="64748B"/>
                </a:solidFill>
                <a:latin typeface="Arial"/>
              </a:rPr>
              <a:t>   five sites that differ</a:t>
            </a:r>
          </a:p>
        </p:txBody>
      </p:sp>
      <p:pic>
        <p:nvPicPr>
          <p:cNvPr id="7" name="Picture 6" descr="Synthea before any modelling"/>
          <p:cNvPicPr>
            <a:picLocks noChangeAspect="1"/>
          </p:cNvPicPr>
          <p:nvPr/>
        </p:nvPicPr>
        <p:blipFill>
          <a:blip r:embed="rId2"/>
          <a:stretch>
            <a:fillRect/>
          </a:stretch>
        </p:blipFill>
        <p:spPr>
          <a:xfrm>
            <a:off x="850392" y="1783080"/>
            <a:ext cx="4754880" cy="3566160"/>
          </a:xfrm>
          <a:prstGeom prst="rect">
            <a:avLst/>
          </a:prstGeom>
        </p:spPr>
      </p:pic>
      <p:sp>
        <p:nvSpPr>
          <p:cNvPr id="8" name="Rounded Rectangle 7"/>
          <p:cNvSpPr/>
          <p:nvPr/>
        </p:nvSpPr>
        <p:spPr>
          <a:xfrm>
            <a:off x="548640" y="5440680"/>
            <a:ext cx="5358384" cy="868680"/>
          </a:xfrm>
          <a:prstGeom prst="roundRect">
            <a:avLst>
              <a:gd name="adj" fmla="val 10526"/>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28015" bIns="128015" wrap="square">
            <a:noAutofit/>
          </a:bodyPr>
          <a:lstStyle/>
          <a:p>
            <a:pPr algn="l">
              <a:spcAft>
                <a:spcPts val="0"/>
              </a:spcAft>
            </a:pPr>
            <a:r>
              <a:rPr sz="1500" b="1" i="0">
                <a:solidFill>
                  <a:srgbClr val="166534"/>
                </a:solidFill>
                <a:latin typeface="Arial"/>
              </a:rPr>
              <a:t>Worth federating: </a:t>
            </a:r>
            <a:r>
              <a:rPr sz="1500" b="0" i="0">
                <a:solidFill>
                  <a:srgbClr val="1E293B"/>
                </a:solidFill>
                <a:latin typeface="Arial"/>
              </a:rPr>
              <a:t>the case rate varies 7.0× across sites; the most different site is 0.79 SD from the pooled mean.</a:t>
            </a:r>
          </a:p>
        </p:txBody>
      </p:sp>
      <p:sp>
        <p:nvSpPr>
          <p:cNvPr id="9" name="TextBox 8"/>
          <p:cNvSpPr txBox="1"/>
          <p:nvPr/>
        </p:nvSpPr>
        <p:spPr>
          <a:xfrm>
            <a:off x="6281928" y="1371600"/>
            <a:ext cx="5358384" cy="365760"/>
          </a:xfrm>
          <a:prstGeom prst="rect">
            <a:avLst/>
          </a:prstGeom>
          <a:noFill/>
        </p:spPr>
        <p:txBody>
          <a:bodyPr wrap="square" lIns="0" rIns="0" tIns="0" bIns="0" anchor="t">
            <a:noAutofit/>
          </a:bodyPr>
          <a:lstStyle/>
          <a:p>
            <a:pPr algn="l">
              <a:spcAft>
                <a:spcPts val="600"/>
              </a:spcAft>
            </a:pPr>
            <a:r>
              <a:rPr sz="1800" b="1" i="0">
                <a:solidFill>
                  <a:srgbClr val="1E293B"/>
                </a:solidFill>
                <a:latin typeface="Arial"/>
              </a:rPr>
              <a:t>UK Biobank</a:t>
            </a:r>
            <a:r>
              <a:rPr sz="1800" b="0" i="0">
                <a:solidFill>
                  <a:srgbClr val="64748B"/>
                </a:solidFill>
                <a:latin typeface="Arial"/>
              </a:rPr>
              <a:t>   eight centres, one cohort</a:t>
            </a:r>
          </a:p>
        </p:txBody>
      </p:sp>
      <p:pic>
        <p:nvPicPr>
          <p:cNvPr id="10" name="Picture 9" descr="UK Biobank before any modelling"/>
          <p:cNvPicPr>
            <a:picLocks noChangeAspect="1"/>
          </p:cNvPicPr>
          <p:nvPr/>
        </p:nvPicPr>
        <p:blipFill>
          <a:blip r:embed="rId3"/>
          <a:stretch>
            <a:fillRect/>
          </a:stretch>
        </p:blipFill>
        <p:spPr>
          <a:xfrm>
            <a:off x="6583680" y="1783080"/>
            <a:ext cx="4754880" cy="3566160"/>
          </a:xfrm>
          <a:prstGeom prst="rect">
            <a:avLst/>
          </a:prstGeom>
        </p:spPr>
      </p:pic>
      <p:sp>
        <p:nvSpPr>
          <p:cNvPr id="11" name="Rounded Rectangle 10"/>
          <p:cNvSpPr/>
          <p:nvPr/>
        </p:nvSpPr>
        <p:spPr>
          <a:xfrm>
            <a:off x="6281928" y="5440680"/>
            <a:ext cx="5358384" cy="868680"/>
          </a:xfrm>
          <a:prstGeom prst="roundRect">
            <a:avLst>
              <a:gd name="adj" fmla="val 10526"/>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28015" bIns="128015" wrap="square">
            <a:noAutofit/>
          </a:bodyPr>
          <a:lstStyle/>
          <a:p>
            <a:pPr algn="l">
              <a:spcAft>
                <a:spcPts val="0"/>
              </a:spcAft>
            </a:pPr>
            <a:r>
              <a:rPr sz="1500" b="1" i="0">
                <a:solidFill>
                  <a:srgbClr val="1E293B"/>
                </a:solidFill>
                <a:latin typeface="Arial"/>
              </a:rPr>
              <a:t>Nothing to reconcile: </a:t>
            </a:r>
            <a:r>
              <a:rPr sz="1500" b="0" i="0">
                <a:solidFill>
                  <a:srgbClr val="1E293B"/>
                </a:solidFill>
                <a:latin typeface="Arial"/>
              </a:rPr>
              <a:t>the case rate varies 1.6×; every centre is within 0.03 SD of the pooled mean.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640080"/>
          </a:xfrm>
          <a:prstGeom prst="rect">
            <a:avLst/>
          </a:prstGeom>
          <a:noFill/>
        </p:spPr>
        <p:txBody>
          <a:bodyPr wrap="square" lIns="0" rIns="0" tIns="0" bIns="0" anchor="t">
            <a:noAutofit/>
          </a:bodyPr>
          <a:lstStyle/>
          <a:p>
            <a:pPr algn="l">
              <a:spcAft>
                <a:spcPts val="600"/>
              </a:spcAft>
            </a:pPr>
            <a:r>
              <a:rPr sz="3000" b="1" i="0">
                <a:solidFill>
                  <a:srgbClr val="0B1220"/>
                </a:solidFill>
                <a:latin typeface="Arial"/>
              </a:rPr>
              <a:t>Five Synthea sites: federated matches pooled</a:t>
            </a:r>
          </a:p>
        </p:txBody>
      </p:sp>
      <p:sp>
        <p:nvSpPr>
          <p:cNvPr id="4" name="TextBox 3"/>
          <p:cNvSpPr txBox="1"/>
          <p:nvPr/>
        </p:nvSpPr>
        <p:spPr>
          <a:xfrm>
            <a:off x="548640" y="6464808"/>
            <a:ext cx="5486400" cy="274320"/>
          </a:xfrm>
          <a:prstGeom prst="rect">
            <a:avLst/>
          </a:prstGeom>
          <a:noFill/>
        </p:spPr>
        <p:txBody>
          <a:bodyPr wrap="square" lIns="0" rIns="0" tIns="0" bIns="0" anchor="t">
            <a:noAutofit/>
          </a:bodyPr>
          <a:lstStyle/>
          <a:p>
            <a:pPr algn="l">
              <a:spcAft>
                <a:spcPts val="600"/>
              </a:spcAft>
            </a:pPr>
            <a:r>
              <a:rPr sz="1000" b="0" i="0">
                <a:solidFill>
                  <a:srgbClr val="64748B"/>
                </a:solidFill>
                <a:latin typeface="Arial"/>
              </a:rPr>
              <a:t>Concordia · Project 5 · Copenhagen 2026</a:t>
            </a:r>
          </a:p>
        </p:txBody>
      </p:sp>
      <p:pic>
        <p:nvPicPr>
          <p:cNvPr id="5" name="Picture 4" descr="Incident type 2 diabetes across five Synthea sites"/>
          <p:cNvPicPr>
            <a:picLocks noChangeAspect="1"/>
          </p:cNvPicPr>
          <p:nvPr/>
        </p:nvPicPr>
        <p:blipFill>
          <a:blip r:embed="rId2"/>
          <a:stretch>
            <a:fillRect/>
          </a:stretch>
        </p:blipFill>
        <p:spPr>
          <a:xfrm>
            <a:off x="548640" y="1097280"/>
            <a:ext cx="11094415" cy="3672633"/>
          </a:xfrm>
          <a:prstGeom prst="rect">
            <a:avLst/>
          </a:prstGeom>
        </p:spPr>
      </p:pic>
      <p:sp>
        <p:nvSpPr>
          <p:cNvPr id="6" name="Rounded Rectangle 5"/>
          <p:cNvSpPr/>
          <p:nvPr/>
        </p:nvSpPr>
        <p:spPr>
          <a:xfrm>
            <a:off x="548640" y="4937760"/>
            <a:ext cx="3545738" cy="1325880"/>
          </a:xfrm>
          <a:prstGeom prst="roundRect">
            <a:avLst>
              <a:gd name="adj" fmla="val 689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0817" bIns="140817" wrap="square">
            <a:noAutofit/>
          </a:bodyPr>
          <a:lstStyle/>
          <a:p>
            <a:pPr algn="l">
              <a:spcAft>
                <a:spcPts val="200"/>
              </a:spcAft>
            </a:pPr>
            <a:r>
              <a:rPr sz="4000" b="1" i="0">
                <a:solidFill>
                  <a:srgbClr val="16A34A"/>
                </a:solidFill>
                <a:latin typeface="Arial"/>
              </a:rPr>
              <a:t>0.582</a:t>
            </a:r>
          </a:p>
          <a:p>
            <a:pPr algn="l">
              <a:spcAft>
                <a:spcPts val="600"/>
              </a:spcAft>
            </a:pPr>
            <a:r>
              <a:rPr sz="1600" b="0" i="0">
                <a:solidFill>
                  <a:srgbClr val="1E293B"/>
                </a:solidFill>
                <a:latin typeface="Arial"/>
              </a:rPr>
              <a:t>federated AUROC</a:t>
            </a:r>
          </a:p>
        </p:txBody>
      </p:sp>
      <p:sp>
        <p:nvSpPr>
          <p:cNvPr id="7" name="Rounded Rectangle 6"/>
          <p:cNvSpPr/>
          <p:nvPr/>
        </p:nvSpPr>
        <p:spPr>
          <a:xfrm>
            <a:off x="4322978" y="4937760"/>
            <a:ext cx="3545738" cy="1325880"/>
          </a:xfrm>
          <a:prstGeom prst="roundRect">
            <a:avLst>
              <a:gd name="adj" fmla="val 689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0817" bIns="140817" wrap="square">
            <a:noAutofit/>
          </a:bodyPr>
          <a:lstStyle/>
          <a:p>
            <a:pPr algn="l">
              <a:spcAft>
                <a:spcPts val="200"/>
              </a:spcAft>
            </a:pPr>
            <a:r>
              <a:rPr sz="4000" b="1" i="0">
                <a:solidFill>
                  <a:srgbClr val="1E40AF"/>
                </a:solidFill>
                <a:latin typeface="Arial"/>
              </a:rPr>
              <a:t>0.586</a:t>
            </a:r>
          </a:p>
          <a:p>
            <a:pPr algn="l">
              <a:spcAft>
                <a:spcPts val="600"/>
              </a:spcAft>
            </a:pPr>
            <a:r>
              <a:rPr sz="1600" b="0" i="0">
                <a:solidFill>
                  <a:srgbClr val="1E293B"/>
                </a:solidFill>
                <a:latin typeface="Arial"/>
              </a:rPr>
              <a:t>pooled AUROC, the upper bound</a:t>
            </a:r>
          </a:p>
        </p:txBody>
      </p:sp>
      <p:sp>
        <p:nvSpPr>
          <p:cNvPr id="8" name="Rounded Rectangle 7"/>
          <p:cNvSpPr/>
          <p:nvPr/>
        </p:nvSpPr>
        <p:spPr>
          <a:xfrm>
            <a:off x="8097316" y="4937760"/>
            <a:ext cx="3545738" cy="1325880"/>
          </a:xfrm>
          <a:prstGeom prst="roundRect">
            <a:avLst>
              <a:gd name="adj" fmla="val 689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0817" bIns="140817" wrap="square">
            <a:noAutofit/>
          </a:bodyPr>
          <a:lstStyle/>
          <a:p>
            <a:pPr algn="l">
              <a:spcAft>
                <a:spcPts val="200"/>
              </a:spcAft>
            </a:pPr>
            <a:r>
              <a:rPr sz="4000" b="1" i="0">
                <a:solidFill>
                  <a:srgbClr val="B91C1C"/>
                </a:solidFill>
                <a:latin typeface="Arial"/>
              </a:rPr>
              <a:t>0.433</a:t>
            </a:r>
          </a:p>
          <a:p>
            <a:pPr algn="l">
              <a:spcAft>
                <a:spcPts val="600"/>
              </a:spcAft>
            </a:pPr>
            <a:r>
              <a:rPr sz="1600" b="0" i="0">
                <a:solidFill>
                  <a:srgbClr val="1E293B"/>
                </a:solidFill>
                <a:latin typeface="Arial"/>
              </a:rPr>
              <a:t>smallest site on its own, worse than chance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640080"/>
          </a:xfrm>
          <a:prstGeom prst="rect">
            <a:avLst/>
          </a:prstGeom>
          <a:noFill/>
        </p:spPr>
        <p:txBody>
          <a:bodyPr wrap="square" lIns="0" rIns="0" tIns="0" bIns="0" anchor="t">
            <a:noAutofit/>
          </a:bodyPr>
          <a:lstStyle/>
          <a:p>
            <a:pPr algn="l">
              <a:spcAft>
                <a:spcPts val="600"/>
              </a:spcAft>
            </a:pPr>
            <a:r>
              <a:rPr sz="3000" b="1" i="0">
                <a:solidFill>
                  <a:srgbClr val="0B1220"/>
                </a:solidFill>
                <a:latin typeface="Arial"/>
              </a:rPr>
              <a:t>UK Biobank: the negative control holds</a:t>
            </a:r>
          </a:p>
        </p:txBody>
      </p:sp>
      <p:sp>
        <p:nvSpPr>
          <p:cNvPr id="4" name="TextBox 3"/>
          <p:cNvSpPr txBox="1"/>
          <p:nvPr/>
        </p:nvSpPr>
        <p:spPr>
          <a:xfrm>
            <a:off x="548640" y="6464808"/>
            <a:ext cx="5486400" cy="274320"/>
          </a:xfrm>
          <a:prstGeom prst="rect">
            <a:avLst/>
          </a:prstGeom>
          <a:noFill/>
        </p:spPr>
        <p:txBody>
          <a:bodyPr wrap="square" lIns="0" rIns="0" tIns="0" bIns="0" anchor="t">
            <a:noAutofit/>
          </a:bodyPr>
          <a:lstStyle/>
          <a:p>
            <a:pPr algn="l">
              <a:spcAft>
                <a:spcPts val="600"/>
              </a:spcAft>
            </a:pPr>
            <a:r>
              <a:rPr sz="1000" b="0" i="0">
                <a:solidFill>
                  <a:srgbClr val="64748B"/>
                </a:solidFill>
                <a:latin typeface="Arial"/>
              </a:rPr>
              <a:t>Concordia · Project 5 · Copenhagen 2026</a:t>
            </a:r>
          </a:p>
        </p:txBody>
      </p:sp>
      <p:pic>
        <p:nvPicPr>
          <p:cNvPr id="5" name="Picture 4" descr="Incident type 2 diabetes across eight UK Biobank assessment centres: every interval covers 0.5"/>
          <p:cNvPicPr>
            <a:picLocks noChangeAspect="1"/>
          </p:cNvPicPr>
          <p:nvPr/>
        </p:nvPicPr>
        <p:blipFill>
          <a:blip r:embed="rId2"/>
          <a:stretch>
            <a:fillRect/>
          </a:stretch>
        </p:blipFill>
        <p:spPr>
          <a:xfrm>
            <a:off x="548640" y="1097280"/>
            <a:ext cx="11094415" cy="3672633"/>
          </a:xfrm>
          <a:prstGeom prst="rect">
            <a:avLst/>
          </a:prstGeom>
        </p:spPr>
      </p:pic>
      <p:sp>
        <p:nvSpPr>
          <p:cNvPr id="6" name="Rounded Rectangle 5"/>
          <p:cNvSpPr/>
          <p:nvPr/>
        </p:nvSpPr>
        <p:spPr>
          <a:xfrm>
            <a:off x="548640" y="4937760"/>
            <a:ext cx="3545738" cy="1325880"/>
          </a:xfrm>
          <a:prstGeom prst="roundRect">
            <a:avLst>
              <a:gd name="adj" fmla="val 689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0817" bIns="140817" wrap="square">
            <a:noAutofit/>
          </a:bodyPr>
          <a:lstStyle/>
          <a:p>
            <a:pPr algn="l">
              <a:spcAft>
                <a:spcPts val="200"/>
              </a:spcAft>
            </a:pPr>
            <a:r>
              <a:rPr sz="3400" b="1" i="0">
                <a:solidFill>
                  <a:srgbClr val="1E293B"/>
                </a:solidFill>
                <a:latin typeface="Arial"/>
              </a:rPr>
              <a:t>40,671</a:t>
            </a:r>
          </a:p>
          <a:p>
            <a:pPr algn="l">
              <a:spcAft>
                <a:spcPts val="600"/>
              </a:spcAft>
            </a:pPr>
            <a:r>
              <a:rPr sz="1600" b="0" i="0">
                <a:solidFill>
                  <a:srgbClr val="1E293B"/>
                </a:solidFill>
                <a:latin typeface="Arial"/>
              </a:rPr>
              <a:t>people in eight centres, 198 incident cases</a:t>
            </a:r>
          </a:p>
        </p:txBody>
      </p:sp>
      <p:sp>
        <p:nvSpPr>
          <p:cNvPr id="7" name="Rounded Rectangle 6"/>
          <p:cNvSpPr/>
          <p:nvPr/>
        </p:nvSpPr>
        <p:spPr>
          <a:xfrm>
            <a:off x="4322978" y="4937760"/>
            <a:ext cx="3545738" cy="1325880"/>
          </a:xfrm>
          <a:prstGeom prst="roundRect">
            <a:avLst>
              <a:gd name="adj" fmla="val 689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0817" bIns="140817" wrap="square">
            <a:noAutofit/>
          </a:bodyPr>
          <a:lstStyle/>
          <a:p>
            <a:pPr algn="l">
              <a:spcAft>
                <a:spcPts val="200"/>
              </a:spcAft>
            </a:pPr>
            <a:r>
              <a:rPr sz="3400" b="1" i="0">
                <a:solidFill>
                  <a:srgbClr val="64748B"/>
                </a:solidFill>
                <a:latin typeface="Arial"/>
              </a:rPr>
              <a:t>0.430–0.575</a:t>
            </a:r>
          </a:p>
          <a:p>
            <a:pPr algn="l">
              <a:spcAft>
                <a:spcPts val="600"/>
              </a:spcAft>
            </a:pPr>
            <a:r>
              <a:rPr sz="1600" b="0" i="0">
                <a:solidFill>
                  <a:srgbClr val="1E293B"/>
                </a:solidFill>
                <a:latin typeface="Arial"/>
              </a:rPr>
              <a:t>single centres: apparent signal that is not there</a:t>
            </a:r>
          </a:p>
        </p:txBody>
      </p:sp>
      <p:sp>
        <p:nvSpPr>
          <p:cNvPr id="8" name="Rounded Rectangle 7"/>
          <p:cNvSpPr/>
          <p:nvPr/>
        </p:nvSpPr>
        <p:spPr>
          <a:xfrm>
            <a:off x="8097316" y="4937760"/>
            <a:ext cx="3545738" cy="1325880"/>
          </a:xfrm>
          <a:prstGeom prst="roundRect">
            <a:avLst>
              <a:gd name="adj" fmla="val 689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0817" bIns="140817" wrap="square">
            <a:noAutofit/>
          </a:bodyPr>
          <a:lstStyle/>
          <a:p>
            <a:pPr algn="l">
              <a:spcAft>
                <a:spcPts val="200"/>
              </a:spcAft>
            </a:pPr>
            <a:r>
              <a:rPr sz="3400" b="1" i="0">
                <a:solidFill>
                  <a:srgbClr val="16A34A"/>
                </a:solidFill>
                <a:latin typeface="Arial"/>
              </a:rPr>
              <a:t>0.511</a:t>
            </a:r>
          </a:p>
          <a:p>
            <a:pPr algn="l">
              <a:spcAft>
                <a:spcPts val="600"/>
              </a:spcAft>
            </a:pPr>
            <a:r>
              <a:rPr sz="1600" b="0" i="0">
                <a:solidFill>
                  <a:srgbClr val="1E293B"/>
                </a:solidFill>
                <a:latin typeface="Arial"/>
              </a:rPr>
              <a:t>federated: every interval covers 0.5, chance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640080"/>
          </a:xfrm>
          <a:prstGeom prst="rect">
            <a:avLst/>
          </a:prstGeom>
          <a:noFill/>
        </p:spPr>
        <p:txBody>
          <a:bodyPr wrap="square" lIns="0" rIns="0" tIns="0" bIns="0" anchor="t">
            <a:noAutofit/>
          </a:bodyPr>
          <a:lstStyle/>
          <a:p>
            <a:pPr algn="l">
              <a:spcAft>
                <a:spcPts val="600"/>
              </a:spcAft>
            </a:pPr>
            <a:r>
              <a:rPr sz="3000" b="1" i="0">
                <a:solidFill>
                  <a:srgbClr val="0B1220"/>
                </a:solidFill>
                <a:latin typeface="Arial"/>
              </a:rPr>
              <a:t>Try it yourself</a:t>
            </a:r>
          </a:p>
        </p:txBody>
      </p:sp>
      <p:sp>
        <p:nvSpPr>
          <p:cNvPr id="4" name="TextBox 3"/>
          <p:cNvSpPr txBox="1"/>
          <p:nvPr/>
        </p:nvSpPr>
        <p:spPr>
          <a:xfrm>
            <a:off x="548640" y="6464808"/>
            <a:ext cx="5486400" cy="274320"/>
          </a:xfrm>
          <a:prstGeom prst="rect">
            <a:avLst/>
          </a:prstGeom>
          <a:noFill/>
        </p:spPr>
        <p:txBody>
          <a:bodyPr wrap="square" lIns="0" rIns="0" tIns="0" bIns="0" anchor="t">
            <a:noAutofit/>
          </a:bodyPr>
          <a:lstStyle/>
          <a:p>
            <a:pPr algn="l">
              <a:spcAft>
                <a:spcPts val="600"/>
              </a:spcAft>
            </a:pPr>
            <a:r>
              <a:rPr sz="1000" b="0" i="0">
                <a:solidFill>
                  <a:srgbClr val="64748B"/>
                </a:solidFill>
                <a:latin typeface="Arial"/>
              </a:rPr>
              <a:t>Concordia · Project 5 · Copenhagen 2026</a:t>
            </a:r>
          </a:p>
        </p:txBody>
      </p:sp>
      <p:graphicFrame>
        <p:nvGraphicFramePr>
          <p:cNvPr id="5" name="Table 4"/>
          <p:cNvGraphicFramePr>
            <a:graphicFrameLocks noGrp="1"/>
          </p:cNvGraphicFramePr>
          <p:nvPr/>
        </p:nvGraphicFramePr>
        <p:xfrm>
          <a:off x="548640" y="1234440"/>
          <a:ext cx="5257800" cy="2743200"/>
        </p:xfrm>
        <a:graphic>
          <a:graphicData uri="http://schemas.openxmlformats.org/drawingml/2006/table">
            <a:tbl>
              <a:tblPr>
                <a:tableStyleId>{5C22544A-7EE6-4342-B048-85BDC9FD1C3A}</a:tableStyleId>
              </a:tblPr>
              <a:tblGrid>
                <a:gridCol w="2148840"/>
                <a:gridCol w="3108960"/>
              </a:tblGrid>
              <a:tr h="457200">
                <a:tc>
                  <a:txBody>
                    <a:bodyPr wrap="square">
                      <a:noAutofit/>
                    </a:bodyPr>
                    <a:lstStyle/>
                    <a:p>
                      <a:pPr algn="l">
                        <a:spcAft>
                          <a:spcPts val="0"/>
                        </a:spcAft>
                      </a:pPr>
                      <a:r>
                        <a:rPr sz="1200" b="1" i="0">
                          <a:solidFill>
                            <a:srgbClr val="0F766E"/>
                          </a:solidFill>
                          <a:latin typeface="Courier New"/>
                        </a:rPr>
                        <a:t>omop_skill/</a:t>
                      </a:r>
                    </a:p>
                  </a:txBody>
                  <a:tcPr marL="109728" marR="109728" marT="45720" marB="45720" anchor="ctr">
                    <a:solidFill>
                      <a:srgbClr val="F1F5F9"/>
                    </a:solidFill>
                  </a:tcPr>
                </a:tc>
                <a:tc>
                  <a:txBody>
                    <a:bodyPr wrap="square">
                      <a:noAutofit/>
                    </a:bodyPr>
                    <a:lstStyle/>
                    <a:p>
                      <a:pPr algn="l">
                        <a:spcAft>
                          <a:spcPts val="0"/>
                        </a:spcAft>
                      </a:pPr>
                      <a:r>
                        <a:rPr sz="1300" b="0" i="0">
                          <a:solidFill>
                            <a:srgbClr val="1E293B"/>
                          </a:solidFill>
                          <a:latin typeface="Arial"/>
                        </a:rPr>
                        <a:t>Subproject 1: raw data to OMOP, and the checks</a:t>
                      </a:r>
                    </a:p>
                  </a:txBody>
                  <a:tcPr marL="109728" marR="109728" marT="45720" marB="45720" anchor="ctr">
                    <a:solidFill>
                      <a:srgbClr val="F1F5F9"/>
                    </a:solidFill>
                  </a:tcPr>
                </a:tc>
              </a:tr>
              <a:tr h="457200">
                <a:tc>
                  <a:txBody>
                    <a:bodyPr wrap="square">
                      <a:noAutofit/>
                    </a:bodyPr>
                    <a:lstStyle/>
                    <a:p>
                      <a:pPr algn="l">
                        <a:spcAft>
                          <a:spcPts val="0"/>
                        </a:spcAft>
                      </a:pPr>
                      <a:r>
                        <a:rPr sz="1200" b="1" i="0">
                          <a:solidFill>
                            <a:srgbClr val="0F766E"/>
                          </a:solidFill>
                          <a:latin typeface="Courier New"/>
                        </a:rPr>
                        <a:t>src/omopflare/</a:t>
                      </a:r>
                    </a:p>
                  </a:txBody>
                  <a:tcPr marL="109728" marR="109728" marT="45720" marB="45720" anchor="ctr">
                    <a:solidFill>
                      <a:srgbClr val="FFFFFF"/>
                    </a:solidFill>
                  </a:tcPr>
                </a:tc>
                <a:tc>
                  <a:txBody>
                    <a:bodyPr wrap="square">
                      <a:noAutofit/>
                    </a:bodyPr>
                    <a:lstStyle/>
                    <a:p>
                      <a:pPr algn="l">
                        <a:spcAft>
                          <a:spcPts val="0"/>
                        </a:spcAft>
                      </a:pPr>
                      <a:r>
                        <a:rPr sz="1300" b="0" i="0">
                          <a:solidFill>
                            <a:srgbClr val="1E293B"/>
                          </a:solidFill>
                          <a:latin typeface="Arial"/>
                        </a:rPr>
                        <a:t>Subproject 2: OMOP dataloader and federated learning with NVFlare</a:t>
                      </a:r>
                    </a:p>
                  </a:txBody>
                  <a:tcPr marL="109728" marR="109728" marT="45720" marB="45720" anchor="ctr">
                    <a:solidFill>
                      <a:srgbClr val="FFFFFF"/>
                    </a:solidFill>
                  </a:tcPr>
                </a:tc>
              </a:tr>
              <a:tr h="457200">
                <a:tc>
                  <a:txBody>
                    <a:bodyPr wrap="square">
                      <a:noAutofit/>
                    </a:bodyPr>
                    <a:lstStyle/>
                    <a:p>
                      <a:pPr algn="l">
                        <a:spcAft>
                          <a:spcPts val="0"/>
                        </a:spcAft>
                      </a:pPr>
                      <a:r>
                        <a:rPr sz="1200" b="1" i="0">
                          <a:solidFill>
                            <a:srgbClr val="0F766E"/>
                          </a:solidFill>
                          <a:latin typeface="Courier New"/>
                        </a:rPr>
                        <a:t>examples/</a:t>
                      </a:r>
                    </a:p>
                  </a:txBody>
                  <a:tcPr marL="109728" marR="109728" marT="45720" marB="45720" anchor="ctr">
                    <a:solidFill>
                      <a:srgbClr val="F1F5F9"/>
                    </a:solidFill>
                  </a:tcPr>
                </a:tc>
                <a:tc>
                  <a:txBody>
                    <a:bodyPr wrap="square">
                      <a:noAutofit/>
                    </a:bodyPr>
                    <a:lstStyle/>
                    <a:p>
                      <a:pPr algn="l">
                        <a:spcAft>
                          <a:spcPts val="0"/>
                        </a:spcAft>
                      </a:pPr>
                      <a:r>
                        <a:rPr sz="1300" b="0" i="0">
                          <a:solidFill>
                            <a:srgbClr val="1E293B"/>
                          </a:solidFill>
                          <a:latin typeface="Arial"/>
                        </a:rPr>
                        <a:t>End-to-end runs and the benchmarks</a:t>
                      </a:r>
                    </a:p>
                  </a:txBody>
                  <a:tcPr marL="109728" marR="109728" marT="45720" marB="45720" anchor="ctr">
                    <a:solidFill>
                      <a:srgbClr val="F1F5F9"/>
                    </a:solidFill>
                  </a:tcPr>
                </a:tc>
              </a:tr>
              <a:tr h="457200">
                <a:tc>
                  <a:txBody>
                    <a:bodyPr wrap="square">
                      <a:noAutofit/>
                    </a:bodyPr>
                    <a:lstStyle/>
                    <a:p>
                      <a:pPr algn="l">
                        <a:spcAft>
                          <a:spcPts val="0"/>
                        </a:spcAft>
                      </a:pPr>
                      <a:r>
                        <a:rPr sz="1200" b="1" i="0">
                          <a:solidFill>
                            <a:srgbClr val="0F766E"/>
                          </a:solidFill>
                          <a:latin typeface="Courier New"/>
                        </a:rPr>
                        <a:t>contract/</a:t>
                      </a:r>
                    </a:p>
                  </a:txBody>
                  <a:tcPr marL="109728" marR="109728" marT="45720" marB="45720" anchor="ctr">
                    <a:solidFill>
                      <a:srgbClr val="FFFFFF"/>
                    </a:solidFill>
                  </a:tcPr>
                </a:tc>
                <a:tc>
                  <a:txBody>
                    <a:bodyPr wrap="square">
                      <a:noAutofit/>
                    </a:bodyPr>
                    <a:lstStyle/>
                    <a:p>
                      <a:pPr algn="l">
                        <a:spcAft>
                          <a:spcPts val="0"/>
                        </a:spcAft>
                      </a:pPr>
                      <a:r>
                        <a:rPr sz="1300" b="0" i="0">
                          <a:solidFill>
                            <a:srgbClr val="1E293B"/>
                          </a:solidFill>
                          <a:latin typeface="Arial"/>
                        </a:rPr>
                        <a:t>The data contract both subprojects hand over on</a:t>
                      </a:r>
                    </a:p>
                  </a:txBody>
                  <a:tcPr marL="109728" marR="109728" marT="45720" marB="45720" anchor="ctr">
                    <a:solidFill>
                      <a:srgbClr val="FFFFFF"/>
                    </a:solidFill>
                  </a:tcPr>
                </a:tc>
              </a:tr>
              <a:tr h="457200">
                <a:tc>
                  <a:txBody>
                    <a:bodyPr wrap="square">
                      <a:noAutofit/>
                    </a:bodyPr>
                    <a:lstStyle/>
                    <a:p>
                      <a:pPr algn="l">
                        <a:spcAft>
                          <a:spcPts val="0"/>
                        </a:spcAft>
                      </a:pPr>
                      <a:r>
                        <a:rPr sz="1200" b="1" i="0">
                          <a:solidFill>
                            <a:srgbClr val="0F766E"/>
                          </a:solidFill>
                          <a:latin typeface="Courier New"/>
                        </a:rPr>
                        <a:t>synthea_cohorts/</a:t>
                      </a:r>
                    </a:p>
                  </a:txBody>
                  <a:tcPr marL="109728" marR="109728" marT="45720" marB="45720" anchor="ctr">
                    <a:solidFill>
                      <a:srgbClr val="F1F5F9"/>
                    </a:solidFill>
                  </a:tcPr>
                </a:tc>
                <a:tc>
                  <a:txBody>
                    <a:bodyPr wrap="square">
                      <a:noAutofit/>
                    </a:bodyPr>
                    <a:lstStyle/>
                    <a:p>
                      <a:pPr algn="l">
                        <a:spcAft>
                          <a:spcPts val="0"/>
                        </a:spcAft>
                      </a:pPr>
                      <a:r>
                        <a:rPr sz="1300" b="0" i="0">
                          <a:solidFill>
                            <a:srgbClr val="1E293B"/>
                          </a:solidFill>
                          <a:latin typeface="Arial"/>
                        </a:rPr>
                        <a:t>Synthetic cohorts</a:t>
                      </a:r>
                    </a:p>
                  </a:txBody>
                  <a:tcPr marL="109728" marR="109728" marT="45720" marB="45720" anchor="ctr">
                    <a:solidFill>
                      <a:srgbClr val="F1F5F9"/>
                    </a:solidFill>
                  </a:tcPr>
                </a:tc>
              </a:tr>
              <a:tr h="457200">
                <a:tc>
                  <a:txBody>
                    <a:bodyPr wrap="square">
                      <a:noAutofit/>
                    </a:bodyPr>
                    <a:lstStyle/>
                    <a:p>
                      <a:pPr algn="l">
                        <a:spcAft>
                          <a:spcPts val="0"/>
                        </a:spcAft>
                      </a:pPr>
                      <a:r>
                        <a:rPr sz="1200" b="1" i="0">
                          <a:solidFill>
                            <a:srgbClr val="0F766E"/>
                          </a:solidFill>
                          <a:latin typeface="Courier New"/>
                        </a:rPr>
                        <a:t>presentation/, docs/</a:t>
                      </a:r>
                    </a:p>
                  </a:txBody>
                  <a:tcPr marL="109728" marR="109728" marT="45720" marB="45720" anchor="ctr">
                    <a:solidFill>
                      <a:srgbClr val="FFFFFF"/>
                    </a:solidFill>
                  </a:tcPr>
                </a:tc>
                <a:tc>
                  <a:txBody>
                    <a:bodyPr wrap="square">
                      <a:noAutofit/>
                    </a:bodyPr>
                    <a:lstStyle/>
                    <a:p>
                      <a:pPr algn="l">
                        <a:spcAft>
                          <a:spcPts val="0"/>
                        </a:spcAft>
                      </a:pPr>
                      <a:r>
                        <a:rPr sz="1300" b="0" i="0">
                          <a:solidFill>
                            <a:srgbClr val="1E293B"/>
                          </a:solidFill>
                          <a:latin typeface="Arial"/>
                        </a:rPr>
                        <a:t>Slides and project page</a:t>
                      </a:r>
                    </a:p>
                  </a:txBody>
                  <a:tcPr marL="109728" marR="109728" marT="45720" marB="45720" anchor="ctr">
                    <a:solidFill>
                      <a:srgbClr val="FFFFFF"/>
                    </a:solidFill>
                  </a:tcPr>
                </a:tc>
              </a:tr>
            </a:tbl>
          </a:graphicData>
        </a:graphic>
      </p:graphicFrame>
      <p:sp>
        <p:nvSpPr>
          <p:cNvPr id="6" name="TextBox 5"/>
          <p:cNvSpPr txBox="1"/>
          <p:nvPr/>
        </p:nvSpPr>
        <p:spPr>
          <a:xfrm>
            <a:off x="548640" y="4343400"/>
            <a:ext cx="5212080" cy="1188720"/>
          </a:xfrm>
          <a:prstGeom prst="rect">
            <a:avLst/>
          </a:prstGeom>
          <a:noFill/>
        </p:spPr>
        <p:txBody>
          <a:bodyPr wrap="square" lIns="0" rIns="0" tIns="0" bIns="0" anchor="t">
            <a:noAutofit/>
          </a:bodyPr>
          <a:lstStyle/>
          <a:p>
            <a:pPr algn="l">
              <a:spcAft>
                <a:spcPts val="600"/>
              </a:spcAft>
            </a:pPr>
            <a:r>
              <a:rPr sz="1500" b="1" i="0">
                <a:solidFill>
                  <a:srgbClr val="1E293B"/>
                </a:solidFill>
                <a:latin typeface="Arial"/>
              </a:rPr>
              <a:t>Any coding agent: </a:t>
            </a:r>
            <a:r>
              <a:rPr sz="1500" b="0" i="0">
                <a:solidFill>
                  <a:srgbClr val="1E293B"/>
                </a:solidFill>
                <a:latin typeface="Arial"/>
              </a:rPr>
              <a:t>start at AGENTS.md, which points to the one instruction file, omop_skill/SKILL.md.</a:t>
            </a:r>
          </a:p>
          <a:p>
            <a:pPr algn="l">
              <a:spcBef>
                <a:spcPts val="800"/>
              </a:spcBef>
              <a:spcAft>
                <a:spcPts val="600"/>
              </a:spcAft>
            </a:pPr>
            <a:r>
              <a:rPr sz="1300" b="0" i="0">
                <a:solidFill>
                  <a:srgbClr val="0F766E"/>
                </a:solidFill>
                <a:latin typeface="Arial"/>
              </a:rPr>
              <a:t>github.com/collaborativebioinformatics/OMOP-federated-learning</a:t>
            </a:r>
          </a:p>
        </p:txBody>
      </p:sp>
      <p:sp>
        <p:nvSpPr>
          <p:cNvPr id="7" name="TextBox 6"/>
          <p:cNvSpPr txBox="1"/>
          <p:nvPr/>
        </p:nvSpPr>
        <p:spPr>
          <a:xfrm>
            <a:off x="6035040" y="1188720"/>
            <a:ext cx="5605272" cy="502920"/>
          </a:xfrm>
          <a:prstGeom prst="rect">
            <a:avLst/>
          </a:prstGeom>
          <a:noFill/>
        </p:spPr>
        <p:txBody>
          <a:bodyPr wrap="square" lIns="0" rIns="0" tIns="0" bIns="0" anchor="t">
            <a:noAutofit/>
          </a:bodyPr>
          <a:lstStyle/>
          <a:p>
            <a:pPr algn="l">
              <a:spcAft>
                <a:spcPts val="600"/>
              </a:spcAft>
            </a:pPr>
            <a:r>
              <a:rPr sz="1400" b="1" i="0">
                <a:solidFill>
                  <a:srgbClr val="1E293B"/>
                </a:solidFill>
                <a:latin typeface="Arial"/>
              </a:rPr>
              <a:t>Subproject 1: one site's raw Synthea data to OMOP, checked against the contract</a:t>
            </a:r>
          </a:p>
        </p:txBody>
      </p:sp>
      <p:sp>
        <p:nvSpPr>
          <p:cNvPr id="8" name="Rectangle 7"/>
          <p:cNvSpPr/>
          <p:nvPr/>
        </p:nvSpPr>
        <p:spPr>
          <a:xfrm>
            <a:off x="6035040" y="1737360"/>
            <a:ext cx="5605272" cy="155448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115214" bIns="115214" wrap="square">
            <a:noAutofit/>
          </a:bodyPr>
          <a:lstStyle/>
          <a:p>
            <a:pPr algn="l">
              <a:spcAft>
                <a:spcPts val="0"/>
              </a:spcAft>
            </a:pPr>
            <a:r>
              <a:rPr sz="1050" b="0" i="0">
                <a:solidFill>
                  <a:srgbClr val="E2E8F0"/>
                </a:solidFill>
                <a:latin typeface="Courier New"/>
              </a:rPr>
              <a:t>pip install -r omop_skill/requirements.txt</a:t>
            </a:r>
          </a:p>
          <a:p>
            <a:pPr algn="l">
              <a:spcAft>
                <a:spcPts val="0"/>
              </a:spcAft>
            </a:pPr>
            <a:r>
              <a:rPr sz="1050" b="0" i="0">
                <a:solidFill>
                  <a:srgbClr val="E2E8F0"/>
                </a:solidFill>
                <a:latin typeface="Courier New"/>
              </a:rPr>
              <a:t>python omop_skill/scripts/run_mapping.py \</a:t>
            </a:r>
          </a:p>
          <a:p>
            <a:pPr algn="l">
              <a:spcAft>
                <a:spcPts val="0"/>
              </a:spcAft>
            </a:pPr>
            <a:r>
              <a:rPr sz="1050" b="0" i="0">
                <a:solidFill>
                  <a:srgbClr val="E2E8F0"/>
                </a:solidFill>
                <a:latin typeface="Courier New"/>
              </a:rPr>
              <a:t>  --mapping omop_skill/mappings/synthea_3.3.0.yaml \</a:t>
            </a:r>
          </a:p>
          <a:p>
            <a:pPr algn="l">
              <a:spcAft>
                <a:spcPts val="0"/>
              </a:spcAft>
            </a:pPr>
            <a:r>
              <a:rPr sz="1050" b="0" i="0">
                <a:solidFill>
                  <a:srgbClr val="E2E8F0"/>
                </a:solidFill>
                <a:latin typeface="Courier New"/>
              </a:rPr>
              <a:t>  --source synthea_cohorts/cohort_2/data/source_compact/site_a \</a:t>
            </a:r>
          </a:p>
          <a:p>
            <a:pPr algn="l">
              <a:spcAft>
                <a:spcPts val="0"/>
              </a:spcAft>
            </a:pPr>
            <a:r>
              <a:rPr sz="1050" b="0" i="0">
                <a:solidFill>
                  <a:srgbClr val="E2E8F0"/>
                </a:solidFill>
                <a:latin typeface="Courier New"/>
              </a:rPr>
              <a:t>  --out omop_skill/output/site_a</a:t>
            </a:r>
          </a:p>
          <a:p>
            <a:pPr algn="l">
              <a:spcAft>
                <a:spcPts val="0"/>
              </a:spcAft>
            </a:pPr>
            <a:r>
              <a:rPr sz="1050" b="0" i="0">
                <a:solidFill>
                  <a:srgbClr val="E2E8F0"/>
                </a:solidFill>
                <a:latin typeface="Courier New"/>
              </a:rPr>
              <a:t>python omop_skill/scripts/validate_contract.py \</a:t>
            </a:r>
          </a:p>
          <a:p>
            <a:pPr algn="l">
              <a:spcAft>
                <a:spcPts val="0"/>
              </a:spcAft>
            </a:pPr>
            <a:r>
              <a:rPr sz="1050" b="0" i="0">
                <a:solidFill>
                  <a:srgbClr val="E2E8F0"/>
                </a:solidFill>
                <a:latin typeface="Courier New"/>
              </a:rPr>
              <a:t>  omop_skill/output/site_a \</a:t>
            </a:r>
          </a:p>
          <a:p>
            <a:pPr algn="l">
              <a:spcAft>
                <a:spcPts val="0"/>
              </a:spcAft>
            </a:pPr>
            <a:r>
              <a:rPr sz="1050" b="0" i="0">
                <a:solidFill>
                  <a:srgbClr val="E2E8F0"/>
                </a:solidFill>
                <a:latin typeface="Courier New"/>
              </a:rPr>
              <a:t>  --contract omop_skill/contract_rev1.yaml</a:t>
            </a:r>
          </a:p>
        </p:txBody>
      </p:sp>
      <p:sp>
        <p:nvSpPr>
          <p:cNvPr id="9" name="TextBox 8"/>
          <p:cNvSpPr txBox="1"/>
          <p:nvPr/>
        </p:nvSpPr>
        <p:spPr>
          <a:xfrm>
            <a:off x="6035040" y="3520440"/>
            <a:ext cx="5605272" cy="365760"/>
          </a:xfrm>
          <a:prstGeom prst="rect">
            <a:avLst/>
          </a:prstGeom>
          <a:noFill/>
        </p:spPr>
        <p:txBody>
          <a:bodyPr wrap="square" lIns="0" rIns="0" tIns="0" bIns="0" anchor="t">
            <a:noAutofit/>
          </a:bodyPr>
          <a:lstStyle/>
          <a:p>
            <a:pPr algn="l">
              <a:spcAft>
                <a:spcPts val="600"/>
              </a:spcAft>
            </a:pPr>
            <a:r>
              <a:rPr sz="1400" b="1" i="0">
                <a:solidFill>
                  <a:srgbClr val="1E293B"/>
                </a:solidFill>
                <a:latin typeface="Arial"/>
              </a:rPr>
              <a:t>Subproject 2: federated training over the five sites of cohort_2</a:t>
            </a:r>
          </a:p>
        </p:txBody>
      </p:sp>
      <p:sp>
        <p:nvSpPr>
          <p:cNvPr id="10" name="Rectangle 9"/>
          <p:cNvSpPr/>
          <p:nvPr/>
        </p:nvSpPr>
        <p:spPr>
          <a:xfrm>
            <a:off x="6035040" y="3931920"/>
            <a:ext cx="5605272" cy="7772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115214" bIns="115214" wrap="square">
            <a:noAutofit/>
          </a:bodyPr>
          <a:lstStyle/>
          <a:p>
            <a:pPr algn="l">
              <a:spcAft>
                <a:spcPts val="0"/>
              </a:spcAft>
            </a:pPr>
            <a:r>
              <a:rPr sz="1050" b="0" i="0">
                <a:solidFill>
                  <a:srgbClr val="E2E8F0"/>
                </a:solidFill>
                <a:latin typeface="Courier New"/>
              </a:rPr>
              <a:t>pip install -e .</a:t>
            </a:r>
          </a:p>
          <a:p>
            <a:pPr algn="l">
              <a:spcAft>
                <a:spcPts val="0"/>
              </a:spcAft>
            </a:pPr>
            <a:r>
              <a:rPr sz="1050" b="0" i="0">
                <a:solidFill>
                  <a:srgbClr val="E2E8F0"/>
                </a:solidFill>
                <a:latin typeface="Courier New"/>
              </a:rPr>
              <a:t>python examples/omop_t2dm/run.py \</a:t>
            </a:r>
          </a:p>
          <a:p>
            <a:pPr algn="l">
              <a:spcAft>
                <a:spcPts val="0"/>
              </a:spcAft>
            </a:pPr>
            <a:r>
              <a:rPr sz="1050" b="0" i="0">
                <a:solidFill>
                  <a:srgbClr val="E2E8F0"/>
                </a:solidFill>
                <a:latin typeface="Courier New"/>
              </a:rPr>
              <a:t>  --sites synthea_cohorts/cohort_2/data/omop</a:t>
            </a:r>
          </a:p>
        </p:txBody>
      </p:sp>
      <p:sp>
        <p:nvSpPr>
          <p:cNvPr id="11" name="TextBox 10"/>
          <p:cNvSpPr txBox="1"/>
          <p:nvPr/>
        </p:nvSpPr>
        <p:spPr>
          <a:xfrm>
            <a:off x="6035040" y="4846320"/>
            <a:ext cx="5605272" cy="365760"/>
          </a:xfrm>
          <a:prstGeom prst="rect">
            <a:avLst/>
          </a:prstGeom>
          <a:noFill/>
        </p:spPr>
        <p:txBody>
          <a:bodyPr wrap="square" lIns="0" rIns="0" tIns="0" bIns="0" anchor="t">
            <a:noAutofit/>
          </a:bodyPr>
          <a:lstStyle/>
          <a:p>
            <a:pPr algn="l">
              <a:spcAft>
                <a:spcPts val="600"/>
              </a:spcAft>
            </a:pPr>
            <a:r>
              <a:rPr sz="1400" b="0" i="0">
                <a:solidFill>
                  <a:srgbClr val="64748B"/>
                </a:solidFill>
                <a:latin typeface="Arial"/>
              </a:rPr>
              <a:t>A full NVFlare job is in src/omopflare/README.md.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640080"/>
          </a:xfrm>
          <a:prstGeom prst="rect">
            <a:avLst/>
          </a:prstGeom>
          <a:noFill/>
        </p:spPr>
        <p:txBody>
          <a:bodyPr wrap="square" lIns="0" rIns="0" tIns="0" bIns="0" anchor="t">
            <a:noAutofit/>
          </a:bodyPr>
          <a:lstStyle/>
          <a:p>
            <a:pPr algn="l">
              <a:spcAft>
                <a:spcPts val="600"/>
              </a:spcAft>
            </a:pPr>
            <a:r>
              <a:rPr sz="3000" b="1" i="0">
                <a:solidFill>
                  <a:srgbClr val="0B1220"/>
                </a:solidFill>
                <a:latin typeface="Arial"/>
              </a:rPr>
              <a:t>Limits and next steps</a:t>
            </a:r>
          </a:p>
        </p:txBody>
      </p:sp>
      <p:sp>
        <p:nvSpPr>
          <p:cNvPr id="4" name="TextBox 3"/>
          <p:cNvSpPr txBox="1"/>
          <p:nvPr/>
        </p:nvSpPr>
        <p:spPr>
          <a:xfrm>
            <a:off x="548640" y="6464808"/>
            <a:ext cx="5486400" cy="274320"/>
          </a:xfrm>
          <a:prstGeom prst="rect">
            <a:avLst/>
          </a:prstGeom>
          <a:noFill/>
        </p:spPr>
        <p:txBody>
          <a:bodyPr wrap="square" lIns="0" rIns="0" tIns="0" bIns="0" anchor="t">
            <a:noAutofit/>
          </a:bodyPr>
          <a:lstStyle/>
          <a:p>
            <a:pPr algn="l">
              <a:spcAft>
                <a:spcPts val="600"/>
              </a:spcAft>
            </a:pPr>
            <a:r>
              <a:rPr sz="1000" b="0" i="0">
                <a:solidFill>
                  <a:srgbClr val="64748B"/>
                </a:solidFill>
                <a:latin typeface="Arial"/>
              </a:rPr>
              <a:t>Concordia · Project 5 · Copenhagen 2026</a:t>
            </a:r>
          </a:p>
        </p:txBody>
      </p:sp>
      <p:sp>
        <p:nvSpPr>
          <p:cNvPr id="5" name="Rounded Rectangle 4"/>
          <p:cNvSpPr/>
          <p:nvPr/>
        </p:nvSpPr>
        <p:spPr>
          <a:xfrm>
            <a:off x="548640" y="1325880"/>
            <a:ext cx="6400800" cy="3840480"/>
          </a:xfrm>
          <a:prstGeom prst="roundRect">
            <a:avLst>
              <a:gd name="adj" fmla="val 238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t" lIns="320040" rIns="320040" tIns="224027" bIns="224027" wrap="square">
            <a:noAutofit/>
          </a:bodyPr>
          <a:lstStyle/>
          <a:p>
            <a:pPr algn="l">
              <a:spcAft>
                <a:spcPts val="1200"/>
              </a:spcAft>
            </a:pPr>
            <a:r>
              <a:rPr sz="2000" b="1" i="0">
                <a:solidFill>
                  <a:srgbClr val="0B1220"/>
                </a:solidFill>
                <a:latin typeface="Arial"/>
              </a:rPr>
              <a:t>Where we are</a:t>
            </a:r>
          </a:p>
          <a:p>
            <a:pPr algn="l" marL="251460" indent="-251460">
              <a:spcAft>
                <a:spcPts val="1200"/>
              </a:spcAft>
              <a:buClr>
                <a:srgbClr val="14B8A6"/>
              </a:buClr>
              <a:buFont typeface="Arial"/>
              <a:buChar char="•"/>
            </a:pPr>
            <a:r>
              <a:rPr sz="1800" b="0" i="0">
                <a:solidFill>
                  <a:srgbClr val="1E293B"/>
                </a:solidFill>
                <a:latin typeface="Arial"/>
              </a:rPr>
              <a:t>Proof of concept: synthetic data, simulated sites, one real cohort for the benchmark.</a:t>
            </a:r>
          </a:p>
          <a:p>
            <a:pPr algn="l" marL="251460" indent="-251460">
              <a:spcAft>
                <a:spcPts val="1200"/>
              </a:spcAft>
              <a:buClr>
                <a:srgbClr val="14B8A6"/>
              </a:buClr>
              <a:buFont typeface="Arial"/>
              <a:buChar char="•"/>
            </a:pPr>
            <a:r>
              <a:rPr sz="1800" b="0" i="0">
                <a:solidFill>
                  <a:srgbClr val="1E293B"/>
                </a:solidFill>
                <a:latin typeface="Arial"/>
              </a:rPr>
              <a:t>An AI drafts every mapping. A person approves every mapping.</a:t>
            </a:r>
          </a:p>
          <a:p>
            <a:pPr algn="l" marL="251460" indent="-251460">
              <a:spcAft>
                <a:spcPts val="1200"/>
              </a:spcAft>
              <a:buClr>
                <a:srgbClr val="14B8A6"/>
              </a:buClr>
              <a:buFont typeface="Arial"/>
              <a:buChar char="•"/>
            </a:pPr>
            <a:r>
              <a:rPr sz="1800" b="0" i="0">
                <a:solidFill>
                  <a:srgbClr val="1E293B"/>
                </a:solidFill>
                <a:latin typeface="Arial"/>
              </a:rPr>
              <a:t>Four OMOP tables so far: person, observation period, measurement, condition.</a:t>
            </a:r>
          </a:p>
          <a:p>
            <a:pPr algn="l" marL="251460" indent="-251460">
              <a:spcAft>
                <a:spcPts val="1200"/>
              </a:spcAft>
              <a:buClr>
                <a:srgbClr val="14B8A6"/>
              </a:buClr>
              <a:buFont typeface="Arial"/>
              <a:buChar char="•"/>
            </a:pPr>
            <a:r>
              <a:rPr sz="1800" b="0" i="0">
                <a:solidFill>
                  <a:srgbClr val="1E293B"/>
                </a:solidFill>
                <a:latin typeface="Arial"/>
              </a:rPr>
              <a:t>Tested on two source families: Synthea and UK Biobank.</a:t>
            </a:r>
          </a:p>
        </p:txBody>
      </p:sp>
      <p:sp>
        <p:nvSpPr>
          <p:cNvPr id="6" name="Rounded Rectangle 5"/>
          <p:cNvSpPr/>
          <p:nvPr/>
        </p:nvSpPr>
        <p:spPr>
          <a:xfrm>
            <a:off x="7223760" y="1325880"/>
            <a:ext cx="4416552" cy="3840480"/>
          </a:xfrm>
          <a:prstGeom prst="roundRect">
            <a:avLst>
              <a:gd name="adj" fmla="val 238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t" lIns="320040" rIns="320040" tIns="224027" bIns="224027" wrap="square">
            <a:noAutofit/>
          </a:bodyPr>
          <a:lstStyle/>
          <a:p>
            <a:pPr algn="l">
              <a:spcAft>
                <a:spcPts val="1800"/>
              </a:spcAft>
            </a:pPr>
            <a:r>
              <a:rPr sz="2000" b="1" i="0">
                <a:solidFill>
                  <a:srgbClr val="5EEAD4"/>
                </a:solidFill>
                <a:latin typeface="Arial"/>
              </a:rPr>
              <a:t>Next</a:t>
            </a:r>
          </a:p>
          <a:p>
            <a:pPr algn="l">
              <a:spcAft>
                <a:spcPts val="1000"/>
              </a:spcAft>
            </a:pPr>
            <a:r>
              <a:rPr sz="2800" b="1" i="0">
                <a:solidFill>
                  <a:srgbClr val="FFFFFF"/>
                </a:solidFill>
                <a:latin typeface="Arial"/>
              </a:rPr>
              <a:t>HUNT Cloud over AWS</a:t>
            </a:r>
          </a:p>
          <a:p>
            <a:pPr algn="l">
              <a:spcAft>
                <a:spcPts val="1800"/>
              </a:spcAft>
            </a:pPr>
            <a:r>
              <a:rPr sz="1800" b="0" i="0">
                <a:solidFill>
                  <a:srgbClr val="CBD5E1"/>
                </a:solidFill>
                <a:latin typeface="Arial"/>
              </a:rPr>
              <a:t>Real infrastructure and a real institutional boundary.</a:t>
            </a:r>
          </a:p>
          <a:p>
            <a:pPr algn="l">
              <a:spcAft>
                <a:spcPts val="600"/>
              </a:spcAft>
            </a:pPr>
            <a:r>
              <a:rPr sz="1600" b="0" i="0">
                <a:solidFill>
                  <a:srgbClr val="94A3B8"/>
                </a:solidFill>
                <a:latin typeface="Arial"/>
              </a:rPr>
              <a:t>The prototype already connects there as a proof of concept.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5486400" cy="457200"/>
          </a:xfrm>
          <a:prstGeom prst="rect">
            <a:avLst/>
          </a:prstGeom>
          <a:noFill/>
        </p:spPr>
        <p:txBody>
          <a:bodyPr wrap="square" lIns="0" rIns="0" tIns="0" bIns="0" anchor="t">
            <a:noAutofit/>
          </a:bodyPr>
          <a:lstStyle/>
          <a:p>
            <a:pPr algn="l">
              <a:spcAft>
                <a:spcPts val="600"/>
              </a:spcAft>
            </a:pPr>
            <a:r>
              <a:rPr sz="2000" b="1" i="0">
                <a:solidFill>
                  <a:srgbClr val="5EEAD4"/>
                </a:solidFill>
                <a:latin typeface="Arial"/>
              </a:rPr>
              <a:t>Concordia</a:t>
            </a:r>
          </a:p>
        </p:txBody>
      </p:sp>
      <p:sp>
        <p:nvSpPr>
          <p:cNvPr id="4" name="TextBox 3"/>
          <p:cNvSpPr txBox="1"/>
          <p:nvPr/>
        </p:nvSpPr>
        <p:spPr>
          <a:xfrm>
            <a:off x="822960" y="1737360"/>
            <a:ext cx="10515600" cy="1645920"/>
          </a:xfrm>
          <a:prstGeom prst="rect">
            <a:avLst/>
          </a:prstGeom>
          <a:noFill/>
        </p:spPr>
        <p:txBody>
          <a:bodyPr wrap="square" lIns="0" rIns="0" tIns="0" bIns="0" anchor="t">
            <a:noAutofit/>
          </a:bodyPr>
          <a:lstStyle/>
          <a:p>
            <a:pPr algn="l">
              <a:spcAft>
                <a:spcPts val="400"/>
              </a:spcAft>
            </a:pPr>
            <a:r>
              <a:rPr sz="3600" b="1" i="0">
                <a:solidFill>
                  <a:srgbClr val="FFFFFF"/>
                </a:solidFill>
                <a:latin typeface="Arial"/>
              </a:rPr>
              <a:t>Raw biobank data in. Harmonised OMOP out.</a:t>
            </a:r>
          </a:p>
          <a:p>
            <a:pPr algn="l">
              <a:spcAft>
                <a:spcPts val="400"/>
              </a:spcAft>
            </a:pPr>
            <a:r>
              <a:rPr sz="3600" b="1" i="0">
                <a:solidFill>
                  <a:srgbClr val="FFFFFF"/>
                </a:solidFill>
                <a:latin typeface="Arial"/>
              </a:rPr>
              <a:t>Quality controlled. Trained across sites.</a:t>
            </a:r>
          </a:p>
        </p:txBody>
      </p:sp>
      <p:sp>
        <p:nvSpPr>
          <p:cNvPr id="5" name="TextBox 4"/>
          <p:cNvSpPr txBox="1"/>
          <p:nvPr/>
        </p:nvSpPr>
        <p:spPr>
          <a:xfrm>
            <a:off x="822960" y="3429000"/>
            <a:ext cx="10515600" cy="548640"/>
          </a:xfrm>
          <a:prstGeom prst="rect">
            <a:avLst/>
          </a:prstGeom>
          <a:noFill/>
        </p:spPr>
        <p:txBody>
          <a:bodyPr wrap="square" lIns="0" rIns="0" tIns="0" bIns="0" anchor="t">
            <a:noAutofit/>
          </a:bodyPr>
          <a:lstStyle/>
          <a:p>
            <a:pPr algn="l">
              <a:spcAft>
                <a:spcPts val="600"/>
              </a:spcAft>
            </a:pPr>
            <a:r>
              <a:rPr sz="2400" b="0" i="0">
                <a:solidFill>
                  <a:srgbClr val="5EEAD4"/>
                </a:solidFill>
                <a:latin typeface="Arial"/>
              </a:rPr>
              <a:t>Collaboration stops being a technical problem. It becomes a choice.</a:t>
            </a:r>
          </a:p>
        </p:txBody>
      </p:sp>
      <p:sp>
        <p:nvSpPr>
          <p:cNvPr id="6" name="TextBox 5"/>
          <p:cNvSpPr txBox="1"/>
          <p:nvPr/>
        </p:nvSpPr>
        <p:spPr>
          <a:xfrm>
            <a:off x="822960" y="4754880"/>
            <a:ext cx="10515600" cy="1097280"/>
          </a:xfrm>
          <a:prstGeom prst="rect">
            <a:avLst/>
          </a:prstGeom>
          <a:noFill/>
        </p:spPr>
        <p:txBody>
          <a:bodyPr wrap="square" lIns="0" rIns="0" tIns="0" bIns="0" anchor="t">
            <a:noAutofit/>
          </a:bodyPr>
          <a:lstStyle/>
          <a:p>
            <a:pPr algn="l">
              <a:spcAft>
                <a:spcPts val="600"/>
              </a:spcAft>
            </a:pPr>
            <a:r>
              <a:rPr sz="1300" b="1" i="0">
                <a:solidFill>
                  <a:srgbClr val="94A3B8"/>
                </a:solidFill>
                <a:latin typeface="Arial"/>
              </a:rPr>
              <a:t>TEAM</a:t>
            </a:r>
          </a:p>
          <a:p>
            <a:pPr algn="l">
              <a:spcAft>
                <a:spcPts val="600"/>
              </a:spcAft>
            </a:pPr>
            <a:r>
              <a:rPr sz="2200" b="0" i="0">
                <a:solidFill>
                  <a:srgbClr val="FFFFFF"/>
                </a:solidFill>
                <a:latin typeface="Arial"/>
              </a:rPr>
              <a:t>charles · solvi · lukas · maria · max · nik · mia · kev</a:t>
            </a:r>
          </a:p>
        </p:txBody>
      </p:sp>
      <p:sp>
        <p:nvSpPr>
          <p:cNvPr id="7" name="TextBox 6"/>
          <p:cNvSpPr txBox="1"/>
          <p:nvPr/>
        </p:nvSpPr>
        <p:spPr>
          <a:xfrm>
            <a:off x="822960" y="6035040"/>
            <a:ext cx="10515600" cy="365760"/>
          </a:xfrm>
          <a:prstGeom prst="rect">
            <a:avLst/>
          </a:prstGeom>
          <a:noFill/>
        </p:spPr>
        <p:txBody>
          <a:bodyPr wrap="square" lIns="0" rIns="0" tIns="0" bIns="0" anchor="t">
            <a:noAutofit/>
          </a:bodyPr>
          <a:lstStyle/>
          <a:p>
            <a:pPr algn="l">
              <a:spcAft>
                <a:spcPts val="600"/>
              </a:spcAft>
            </a:pPr>
            <a:r>
              <a:rPr sz="1400" b="0" i="0">
                <a:solidFill>
                  <a:srgbClr val="94A3B8"/>
                </a:solidFill>
                <a:latin typeface="Arial"/>
              </a:rPr>
              <a:t>github.com/collaborativebioinformatics/OMOP-federated-learning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640080"/>
          </a:xfrm>
          <a:prstGeom prst="rect">
            <a:avLst/>
          </a:prstGeom>
          <a:noFill/>
        </p:spPr>
        <p:txBody>
          <a:bodyPr wrap="square" lIns="0" rIns="0" tIns="0" bIns="0" anchor="t">
            <a:noAutofit/>
          </a:bodyPr>
          <a:lstStyle/>
          <a:p>
            <a:pPr algn="l">
              <a:spcAft>
                <a:spcPts val="600"/>
              </a:spcAft>
            </a:pPr>
            <a:r>
              <a:rPr sz="3000" b="1" i="0">
                <a:solidFill>
                  <a:srgbClr val="0B1220"/>
                </a:solidFill>
                <a:latin typeface="Arial"/>
              </a:rPr>
              <a:t>Terms (1/2): data and conversion</a:t>
            </a:r>
          </a:p>
        </p:txBody>
      </p:sp>
      <p:sp>
        <p:nvSpPr>
          <p:cNvPr id="4" name="TextBox 3"/>
          <p:cNvSpPr txBox="1"/>
          <p:nvPr/>
        </p:nvSpPr>
        <p:spPr>
          <a:xfrm>
            <a:off x="548640" y="6464808"/>
            <a:ext cx="5486400" cy="274320"/>
          </a:xfrm>
          <a:prstGeom prst="rect">
            <a:avLst/>
          </a:prstGeom>
          <a:noFill/>
        </p:spPr>
        <p:txBody>
          <a:bodyPr wrap="square" lIns="0" rIns="0" tIns="0" bIns="0" anchor="t">
            <a:noAutofit/>
          </a:bodyPr>
          <a:lstStyle/>
          <a:p>
            <a:pPr algn="l">
              <a:spcAft>
                <a:spcPts val="600"/>
              </a:spcAft>
            </a:pPr>
            <a:r>
              <a:rPr sz="1000" b="0" i="0">
                <a:solidFill>
                  <a:srgbClr val="64748B"/>
                </a:solidFill>
                <a:latin typeface="Arial"/>
              </a:rPr>
              <a:t>Concordia · Project 5 · Copenhagen 2026</a:t>
            </a:r>
          </a:p>
        </p:txBody>
      </p:sp>
      <p:graphicFrame>
        <p:nvGraphicFramePr>
          <p:cNvPr id="5" name="Table 4"/>
          <p:cNvGraphicFramePr>
            <a:graphicFrameLocks noGrp="1"/>
          </p:cNvGraphicFramePr>
          <p:nvPr/>
        </p:nvGraphicFramePr>
        <p:xfrm>
          <a:off x="548640" y="1143000"/>
          <a:ext cx="11094415" cy="4754880"/>
        </p:xfrm>
        <a:graphic>
          <a:graphicData uri="http://schemas.openxmlformats.org/drawingml/2006/table">
            <a:tbl>
              <a:tblPr>
                <a:tableStyleId>{5C22544A-7EE6-4342-B048-85BDC9FD1C3A}</a:tableStyleId>
              </a:tblPr>
              <a:tblGrid>
                <a:gridCol w="2651760"/>
                <a:gridCol w="8442655"/>
              </a:tblGrid>
              <a:tr h="365760">
                <a:tc>
                  <a:txBody>
                    <a:bodyPr wrap="square">
                      <a:noAutofit/>
                    </a:bodyPr>
                    <a:lstStyle/>
                    <a:p>
                      <a:pPr algn="l">
                        <a:spcAft>
                          <a:spcPts val="0"/>
                        </a:spcAft>
                      </a:pPr>
                      <a:r>
                        <a:rPr sz="1400" b="1" i="0">
                          <a:solidFill>
                            <a:srgbClr val="0F766E"/>
                          </a:solidFill>
                          <a:latin typeface="Arial"/>
                        </a:rPr>
                        <a:t>Biobank</a:t>
                      </a:r>
                    </a:p>
                  </a:txBody>
                  <a:tcPr marL="109728" marR="109728" marT="45720" marB="45720" anchor="ctr">
                    <a:solidFill>
                      <a:srgbClr val="F1F5F9"/>
                    </a:solidFill>
                  </a:tcPr>
                </a:tc>
                <a:tc>
                  <a:txBody>
                    <a:bodyPr wrap="square">
                      <a:noAutofit/>
                    </a:bodyPr>
                    <a:lstStyle/>
                    <a:p>
                      <a:pPr algn="l">
                        <a:spcAft>
                          <a:spcPts val="0"/>
                        </a:spcAft>
                      </a:pPr>
                      <a:r>
                        <a:rPr sz="1300" b="0" i="0">
                          <a:solidFill>
                            <a:srgbClr val="1E293B"/>
                          </a:solidFill>
                          <a:latin typeface="Arial"/>
                        </a:rPr>
                        <a:t>A research collection of health data, and often samples, from many people.</a:t>
                      </a:r>
                    </a:p>
                  </a:txBody>
                  <a:tcPr marL="109728" marR="109728" marT="45720" marB="45720" anchor="ctr">
                    <a:solidFill>
                      <a:srgbClr val="F1F5F9"/>
                    </a:solidFill>
                  </a:tcPr>
                </a:tc>
              </a:tr>
              <a:tr h="365760">
                <a:tc>
                  <a:txBody>
                    <a:bodyPr wrap="square">
                      <a:noAutofit/>
                    </a:bodyPr>
                    <a:lstStyle/>
                    <a:p>
                      <a:pPr algn="l">
                        <a:spcAft>
                          <a:spcPts val="0"/>
                        </a:spcAft>
                      </a:pPr>
                      <a:r>
                        <a:rPr sz="1400" b="1" i="0">
                          <a:solidFill>
                            <a:srgbClr val="0F766E"/>
                          </a:solidFill>
                          <a:latin typeface="Arial"/>
                        </a:rPr>
                        <a:t>OMOP CDM</a:t>
                      </a:r>
                    </a:p>
                  </a:txBody>
                  <a:tcPr marL="109728" marR="109728" marT="45720" marB="45720" anchor="ctr">
                    <a:solidFill>
                      <a:srgbClr val="FFFFFF"/>
                    </a:solidFill>
                  </a:tcPr>
                </a:tc>
                <a:tc>
                  <a:txBody>
                    <a:bodyPr wrap="square">
                      <a:noAutofit/>
                    </a:bodyPr>
                    <a:lstStyle/>
                    <a:p>
                      <a:pPr algn="l">
                        <a:spcAft>
                          <a:spcPts val="0"/>
                        </a:spcAft>
                      </a:pPr>
                      <a:r>
                        <a:rPr sz="1300" b="0" i="0">
                          <a:solidFill>
                            <a:srgbClr val="1E293B"/>
                          </a:solidFill>
                          <a:latin typeface="Arial"/>
                        </a:rPr>
                        <a:t>Observational Medical Outcomes Partnership Common Data Model: one shared table layout and one set of standard codes for health data. The common language Concordia translates into.</a:t>
                      </a:r>
                    </a:p>
                  </a:txBody>
                  <a:tcPr marL="109728" marR="109728" marT="45720" marB="45720" anchor="ctr">
                    <a:solidFill>
                      <a:srgbClr val="FFFFFF"/>
                    </a:solidFill>
                  </a:tcPr>
                </a:tc>
              </a:tr>
              <a:tr h="365760">
                <a:tc>
                  <a:txBody>
                    <a:bodyPr wrap="square">
                      <a:noAutofit/>
                    </a:bodyPr>
                    <a:lstStyle/>
                    <a:p>
                      <a:pPr algn="l">
                        <a:spcAft>
                          <a:spcPts val="0"/>
                        </a:spcAft>
                      </a:pPr>
                      <a:r>
                        <a:rPr sz="1400" b="1" i="0">
                          <a:solidFill>
                            <a:srgbClr val="0F766E"/>
                          </a:solidFill>
                          <a:latin typeface="Arial"/>
                        </a:rPr>
                        <a:t>OHDSI</a:t>
                      </a:r>
                    </a:p>
                  </a:txBody>
                  <a:tcPr marL="109728" marR="109728" marT="45720" marB="45720" anchor="ctr">
                    <a:solidFill>
                      <a:srgbClr val="F1F5F9"/>
                    </a:solidFill>
                  </a:tcPr>
                </a:tc>
                <a:tc>
                  <a:txBody>
                    <a:bodyPr wrap="square">
                      <a:noAutofit/>
                    </a:bodyPr>
                    <a:lstStyle/>
                    <a:p>
                      <a:pPr algn="l">
                        <a:spcAft>
                          <a:spcPts val="0"/>
                        </a:spcAft>
                      </a:pPr>
                      <a:r>
                        <a:rPr sz="1300" b="0" i="0">
                          <a:solidFill>
                            <a:srgbClr val="1E293B"/>
                          </a:solidFill>
                          <a:latin typeface="Arial"/>
                        </a:rPr>
                        <a:t>Observational Health Data Sciences and Informatics, the open community behind OMOP and its tools.</a:t>
                      </a:r>
                    </a:p>
                  </a:txBody>
                  <a:tcPr marL="109728" marR="109728" marT="45720" marB="45720" anchor="ctr">
                    <a:solidFill>
                      <a:srgbClr val="F1F5F9"/>
                    </a:solidFill>
                  </a:tcPr>
                </a:tc>
              </a:tr>
              <a:tr h="365760">
                <a:tc>
                  <a:txBody>
                    <a:bodyPr wrap="square">
                      <a:noAutofit/>
                    </a:bodyPr>
                    <a:lstStyle/>
                    <a:p>
                      <a:pPr algn="l">
                        <a:spcAft>
                          <a:spcPts val="0"/>
                        </a:spcAft>
                      </a:pPr>
                      <a:r>
                        <a:rPr sz="1400" b="1" i="0">
                          <a:solidFill>
                            <a:srgbClr val="0F766E"/>
                          </a:solidFill>
                          <a:latin typeface="Arial"/>
                        </a:rPr>
                        <a:t>ETL</a:t>
                      </a:r>
                    </a:p>
                  </a:txBody>
                  <a:tcPr marL="109728" marR="109728" marT="45720" marB="45720" anchor="ctr">
                    <a:solidFill>
                      <a:srgbClr val="FFFFFF"/>
                    </a:solidFill>
                  </a:tcPr>
                </a:tc>
                <a:tc>
                  <a:txBody>
                    <a:bodyPr wrap="square">
                      <a:noAutofit/>
                    </a:bodyPr>
                    <a:lstStyle/>
                    <a:p>
                      <a:pPr algn="l">
                        <a:spcAft>
                          <a:spcPts val="0"/>
                        </a:spcAft>
                      </a:pPr>
                      <a:r>
                        <a:rPr sz="1300" b="0" i="0">
                          <a:solidFill>
                            <a:srgbClr val="1E293B"/>
                          </a:solidFill>
                          <a:latin typeface="Arial"/>
                        </a:rPr>
                        <a:t>Extract, transform, load: take data out of a source, convert it, and load it into the target format.</a:t>
                      </a:r>
                    </a:p>
                  </a:txBody>
                  <a:tcPr marL="109728" marR="109728" marT="45720" marB="45720" anchor="ctr">
                    <a:solidFill>
                      <a:srgbClr val="FFFFFF"/>
                    </a:solidFill>
                  </a:tcPr>
                </a:tc>
              </a:tr>
              <a:tr h="365760">
                <a:tc>
                  <a:txBody>
                    <a:bodyPr wrap="square">
                      <a:noAutofit/>
                    </a:bodyPr>
                    <a:lstStyle/>
                    <a:p>
                      <a:pPr algn="l">
                        <a:spcAft>
                          <a:spcPts val="0"/>
                        </a:spcAft>
                      </a:pPr>
                      <a:r>
                        <a:rPr sz="1400" b="1" i="0">
                          <a:solidFill>
                            <a:srgbClr val="0F766E"/>
                          </a:solidFill>
                          <a:latin typeface="Arial"/>
                        </a:rPr>
                        <a:t>Harmonisation</a:t>
                      </a:r>
                    </a:p>
                  </a:txBody>
                  <a:tcPr marL="109728" marR="109728" marT="45720" marB="45720" anchor="ctr">
                    <a:solidFill>
                      <a:srgbClr val="F1F5F9"/>
                    </a:solidFill>
                  </a:tcPr>
                </a:tc>
                <a:tc>
                  <a:txBody>
                    <a:bodyPr wrap="square">
                      <a:noAutofit/>
                    </a:bodyPr>
                    <a:lstStyle/>
                    <a:p>
                      <a:pPr algn="l">
                        <a:spcAft>
                          <a:spcPts val="0"/>
                        </a:spcAft>
                      </a:pPr>
                      <a:r>
                        <a:rPr sz="1300" b="0" i="0">
                          <a:solidFill>
                            <a:srgbClr val="1E293B"/>
                          </a:solidFill>
                          <a:latin typeface="Arial"/>
                        </a:rPr>
                        <a:t>Bringing differently stored data into the same structure and the same codes.</a:t>
                      </a:r>
                    </a:p>
                  </a:txBody>
                  <a:tcPr marL="109728" marR="109728" marT="45720" marB="45720" anchor="ctr">
                    <a:solidFill>
                      <a:srgbClr val="F1F5F9"/>
                    </a:solidFill>
                  </a:tcPr>
                </a:tc>
              </a:tr>
              <a:tr h="365760">
                <a:tc>
                  <a:txBody>
                    <a:bodyPr wrap="square">
                      <a:noAutofit/>
                    </a:bodyPr>
                    <a:lstStyle/>
                    <a:p>
                      <a:pPr algn="l">
                        <a:spcAft>
                          <a:spcPts val="0"/>
                        </a:spcAft>
                      </a:pPr>
                      <a:r>
                        <a:rPr sz="1400" b="1" i="0">
                          <a:solidFill>
                            <a:srgbClr val="0F766E"/>
                          </a:solidFill>
                          <a:latin typeface="Arial"/>
                        </a:rPr>
                        <a:t>Mapping</a:t>
                      </a:r>
                    </a:p>
                  </a:txBody>
                  <a:tcPr marL="109728" marR="109728" marT="45720" marB="45720" anchor="ctr">
                    <a:solidFill>
                      <a:srgbClr val="FFFFFF"/>
                    </a:solidFill>
                  </a:tcPr>
                </a:tc>
                <a:tc>
                  <a:txBody>
                    <a:bodyPr wrap="square">
                      <a:noAutofit/>
                    </a:bodyPr>
                    <a:lstStyle/>
                    <a:p>
                      <a:pPr algn="l">
                        <a:spcAft>
                          <a:spcPts val="0"/>
                        </a:spcAft>
                      </a:pPr>
                      <a:r>
                        <a:rPr sz="1300" b="0" i="0">
                          <a:solidFill>
                            <a:srgbClr val="1E293B"/>
                          </a:solidFill>
                          <a:latin typeface="Arial"/>
                        </a:rPr>
                        <a:t>The recipe that says which source field becomes which OMOP field, and which source code becomes which standard concept.</a:t>
                      </a:r>
                    </a:p>
                  </a:txBody>
                  <a:tcPr marL="109728" marR="109728" marT="45720" marB="45720" anchor="ctr">
                    <a:solidFill>
                      <a:srgbClr val="FFFFFF"/>
                    </a:solidFill>
                  </a:tcPr>
                </a:tc>
              </a:tr>
              <a:tr h="365760">
                <a:tc>
                  <a:txBody>
                    <a:bodyPr wrap="square">
                      <a:noAutofit/>
                    </a:bodyPr>
                    <a:lstStyle/>
                    <a:p>
                      <a:pPr algn="l">
                        <a:spcAft>
                          <a:spcPts val="0"/>
                        </a:spcAft>
                      </a:pPr>
                      <a:r>
                        <a:rPr sz="1400" b="1" i="0">
                          <a:solidFill>
                            <a:srgbClr val="0F766E"/>
                          </a:solidFill>
                          <a:latin typeface="Arial"/>
                        </a:rPr>
                        <a:t>Concept ID</a:t>
                      </a:r>
                    </a:p>
                  </a:txBody>
                  <a:tcPr marL="109728" marR="109728" marT="45720" marB="45720" anchor="ctr">
                    <a:solidFill>
                      <a:srgbClr val="F1F5F9"/>
                    </a:solidFill>
                  </a:tcPr>
                </a:tc>
                <a:tc>
                  <a:txBody>
                    <a:bodyPr wrap="square">
                      <a:noAutofit/>
                    </a:bodyPr>
                    <a:lstStyle/>
                    <a:p>
                      <a:pPr algn="l">
                        <a:spcAft>
                          <a:spcPts val="0"/>
                        </a:spcAft>
                      </a:pPr>
                      <a:r>
                        <a:rPr sz="1300" b="0" i="0">
                          <a:solidFill>
                            <a:srgbClr val="1E293B"/>
                          </a:solidFill>
                          <a:latin typeface="Arial"/>
                        </a:rPr>
                        <a:t>OMOP's number for one medical meaning, for example 3038553 for body mass index.</a:t>
                      </a:r>
                    </a:p>
                  </a:txBody>
                  <a:tcPr marL="109728" marR="109728" marT="45720" marB="45720" anchor="ctr">
                    <a:solidFill>
                      <a:srgbClr val="F1F5F9"/>
                    </a:solidFill>
                  </a:tcPr>
                </a:tc>
              </a:tr>
              <a:tr h="365760">
                <a:tc>
                  <a:txBody>
                    <a:bodyPr wrap="square">
                      <a:noAutofit/>
                    </a:bodyPr>
                    <a:lstStyle/>
                    <a:p>
                      <a:pPr algn="l">
                        <a:spcAft>
                          <a:spcPts val="0"/>
                        </a:spcAft>
                      </a:pPr>
                      <a:r>
                        <a:rPr sz="1400" b="1" i="0">
                          <a:solidFill>
                            <a:srgbClr val="0F766E"/>
                          </a:solidFill>
                          <a:latin typeface="Arial"/>
                        </a:rPr>
                        <a:t>Athena</a:t>
                      </a:r>
                    </a:p>
                  </a:txBody>
                  <a:tcPr marL="109728" marR="109728" marT="45720" marB="45720" anchor="ctr">
                    <a:solidFill>
                      <a:srgbClr val="FFFFFF"/>
                    </a:solidFill>
                  </a:tcPr>
                </a:tc>
                <a:tc>
                  <a:txBody>
                    <a:bodyPr wrap="square">
                      <a:noAutofit/>
                    </a:bodyPr>
                    <a:lstStyle/>
                    <a:p>
                      <a:pPr algn="l">
                        <a:spcAft>
                          <a:spcPts val="0"/>
                        </a:spcAft>
                      </a:pPr>
                      <a:r>
                        <a:rPr sz="1300" b="0" i="0">
                          <a:solidFill>
                            <a:srgbClr val="1E293B"/>
                          </a:solidFill>
                          <a:latin typeface="Arial"/>
                        </a:rPr>
                        <a:t>OHDSI's online dictionary of standard vocabularies, where concept IDs are looked up.</a:t>
                      </a:r>
                    </a:p>
                  </a:txBody>
                  <a:tcPr marL="109728" marR="109728" marT="45720" marB="45720" anchor="ctr">
                    <a:solidFill>
                      <a:srgbClr val="FFFFFF"/>
                    </a:solidFill>
                  </a:tcPr>
                </a:tc>
              </a:tr>
              <a:tr h="365760">
                <a:tc>
                  <a:txBody>
                    <a:bodyPr wrap="square">
                      <a:noAutofit/>
                    </a:bodyPr>
                    <a:lstStyle/>
                    <a:p>
                      <a:pPr algn="l">
                        <a:spcAft>
                          <a:spcPts val="0"/>
                        </a:spcAft>
                      </a:pPr>
                      <a:r>
                        <a:rPr sz="1400" b="1" i="0">
                          <a:solidFill>
                            <a:srgbClr val="0F766E"/>
                          </a:solidFill>
                          <a:latin typeface="Arial"/>
                        </a:rPr>
                        <a:t>SNOMED, LOINC, ICD-10</a:t>
                      </a:r>
                    </a:p>
                  </a:txBody>
                  <a:tcPr marL="109728" marR="109728" marT="45720" marB="45720" anchor="ctr">
                    <a:solidFill>
                      <a:srgbClr val="F1F5F9"/>
                    </a:solidFill>
                  </a:tcPr>
                </a:tc>
                <a:tc>
                  <a:txBody>
                    <a:bodyPr wrap="square">
                      <a:noAutofit/>
                    </a:bodyPr>
                    <a:lstStyle/>
                    <a:p>
                      <a:pPr algn="l">
                        <a:spcAft>
                          <a:spcPts val="0"/>
                        </a:spcAft>
                      </a:pPr>
                      <a:r>
                        <a:rPr sz="1300" b="0" i="0">
                          <a:solidFill>
                            <a:srgbClr val="1E293B"/>
                          </a:solidFill>
                          <a:latin typeface="Arial"/>
                        </a:rPr>
                        <a:t>Coding systems: SNOMED and ICD-10 for diagnoses, LOINC for lab tests and measurements.</a:t>
                      </a:r>
                    </a:p>
                  </a:txBody>
                  <a:tcPr marL="109728" marR="109728" marT="45720" marB="45720" anchor="ctr">
                    <a:solidFill>
                      <a:srgbClr val="F1F5F9"/>
                    </a:solidFill>
                  </a:tcPr>
                </a:tc>
              </a:tr>
              <a:tr h="365760">
                <a:tc>
                  <a:txBody>
                    <a:bodyPr wrap="square">
                      <a:noAutofit/>
                    </a:bodyPr>
                    <a:lstStyle/>
                    <a:p>
                      <a:pPr algn="l">
                        <a:spcAft>
                          <a:spcPts val="0"/>
                        </a:spcAft>
                      </a:pPr>
                      <a:r>
                        <a:rPr sz="1400" b="1" i="0">
                          <a:solidFill>
                            <a:srgbClr val="0F766E"/>
                          </a:solidFill>
                          <a:latin typeface="Arial"/>
                        </a:rPr>
                        <a:t>Synthea</a:t>
                      </a:r>
                    </a:p>
                  </a:txBody>
                  <a:tcPr marL="109728" marR="109728" marT="45720" marB="45720" anchor="ctr">
                    <a:solidFill>
                      <a:srgbClr val="FFFFFF"/>
                    </a:solidFill>
                  </a:tcPr>
                </a:tc>
                <a:tc>
                  <a:txBody>
                    <a:bodyPr wrap="square">
                      <a:noAutofit/>
                    </a:bodyPr>
                    <a:lstStyle/>
                    <a:p>
                      <a:pPr algn="l">
                        <a:spcAft>
                          <a:spcPts val="0"/>
                        </a:spcAft>
                      </a:pPr>
                      <a:r>
                        <a:rPr sz="1300" b="0" i="0">
                          <a:solidFill>
                            <a:srgbClr val="1E293B"/>
                          </a:solidFill>
                          <a:latin typeface="Arial"/>
                        </a:rPr>
                        <a:t>An open-source generator of realistic but invented patient records.</a:t>
                      </a:r>
                    </a:p>
                  </a:txBody>
                  <a:tcPr marL="109728" marR="109728" marT="45720" marB="45720" anchor="ctr">
                    <a:solidFill>
                      <a:srgbClr val="FFFFFF"/>
                    </a:solidFill>
                  </a:tcPr>
                </a:tc>
              </a:tr>
              <a:tr h="365760">
                <a:tc>
                  <a:txBody>
                    <a:bodyPr wrap="square">
                      <a:noAutofit/>
                    </a:bodyPr>
                    <a:lstStyle/>
                    <a:p>
                      <a:pPr algn="l">
                        <a:spcAft>
                          <a:spcPts val="0"/>
                        </a:spcAft>
                      </a:pPr>
                      <a:r>
                        <a:rPr sz="1400" b="1" i="0">
                          <a:solidFill>
                            <a:srgbClr val="0F766E"/>
                          </a:solidFill>
                          <a:latin typeface="Arial"/>
                        </a:rPr>
                        <a:t>Synthetic UK Biobank</a:t>
                      </a:r>
                    </a:p>
                  </a:txBody>
                  <a:tcPr marL="109728" marR="109728" marT="45720" marB="45720" anchor="ctr">
                    <a:solidFill>
                      <a:srgbClr val="F1F5F9"/>
                    </a:solidFill>
                  </a:tcPr>
                </a:tc>
                <a:tc>
                  <a:txBody>
                    <a:bodyPr wrap="square">
                      <a:noAutofit/>
                    </a:bodyPr>
                    <a:lstStyle/>
                    <a:p>
                      <a:pPr algn="l">
                        <a:spcAft>
                          <a:spcPts val="0"/>
                        </a:spcAft>
                      </a:pPr>
                      <a:r>
                        <a:rPr sz="1300" b="0" i="0">
                          <a:solidFill>
                            <a:srgbClr val="1E293B"/>
                          </a:solidFill>
                          <a:latin typeface="Arial"/>
                        </a:rPr>
                        <a:t>A public data set in the UK Biobank format with invented values, no real participants.</a:t>
                      </a:r>
                    </a:p>
                  </a:txBody>
                  <a:tcPr marL="109728" marR="109728" marT="45720" marB="45720" anchor="ctr">
                    <a:solidFill>
                      <a:srgbClr val="F1F5F9"/>
                    </a:solidFill>
                  </a:tcPr>
                </a:tc>
              </a:tr>
              <a:tr h="365760">
                <a:tc>
                  <a:txBody>
                    <a:bodyPr wrap="square">
                      <a:noAutofit/>
                    </a:bodyPr>
                    <a:lstStyle/>
                    <a:p>
                      <a:pPr algn="l">
                        <a:spcAft>
                          <a:spcPts val="0"/>
                        </a:spcAft>
                      </a:pPr>
                      <a:r>
                        <a:rPr sz="1400" b="1" i="0">
                          <a:solidFill>
                            <a:srgbClr val="0F766E"/>
                          </a:solidFill>
                          <a:latin typeface="Arial"/>
                        </a:rPr>
                        <a:t>ETL-Synthea</a:t>
                      </a:r>
                    </a:p>
                  </a:txBody>
                  <a:tcPr marL="109728" marR="109728" marT="45720" marB="45720" anchor="ctr">
                    <a:solidFill>
                      <a:srgbClr val="FFFFFF"/>
                    </a:solidFill>
                  </a:tcPr>
                </a:tc>
                <a:tc>
                  <a:txBody>
                    <a:bodyPr wrap="square">
                      <a:noAutofit/>
                    </a:bodyPr>
                    <a:lstStyle/>
                    <a:p>
                      <a:pPr algn="l">
                        <a:spcAft>
                          <a:spcPts val="0"/>
                        </a:spcAft>
                      </a:pPr>
                      <a:r>
                        <a:rPr sz="1300" b="0" i="0">
                          <a:solidFill>
                            <a:srgbClr val="1E293B"/>
                          </a:solidFill>
                          <a:latin typeface="Arial"/>
                        </a:rPr>
                        <a:t>OHDSI's hand-built, expert conversion of Synthea data into OMOP. Our reference.</a:t>
                      </a:r>
                    </a:p>
                  </a:txBody>
                  <a:tcPr marL="109728" marR="109728" marT="45720" marB="45720" anchor="ctr">
                    <a:solidFill>
                      <a:srgbClr val="FFFFFF"/>
                    </a:solidFill>
                  </a:tcPr>
                </a:tc>
              </a:tr>
              <a:tr h="365760">
                <a:tc>
                  <a:txBody>
                    <a:bodyPr wrap="square">
                      <a:noAutofit/>
                    </a:bodyPr>
                    <a:lstStyle/>
                    <a:p>
                      <a:pPr algn="l">
                        <a:spcAft>
                          <a:spcPts val="0"/>
                        </a:spcAft>
                      </a:pPr>
                      <a:r>
                        <a:rPr sz="1400" b="1" i="0">
                          <a:solidFill>
                            <a:srgbClr val="0F766E"/>
                          </a:solidFill>
                          <a:latin typeface="Arial"/>
                        </a:rPr>
                        <a:t>Data contract</a:t>
                      </a:r>
                    </a:p>
                  </a:txBody>
                  <a:tcPr marL="109728" marR="109728" marT="45720" marB="45720" anchor="ctr">
                    <a:solidFill>
                      <a:srgbClr val="F1F5F9"/>
                    </a:solidFill>
                  </a:tcPr>
                </a:tc>
                <a:tc>
                  <a:txBody>
                    <a:bodyPr wrap="square">
                      <a:noAutofit/>
                    </a:bodyPr>
                    <a:lstStyle/>
                    <a:p>
                      <a:pPr algn="l">
                        <a:spcAft>
                          <a:spcPts val="0"/>
                        </a:spcAft>
                      </a:pPr>
                      <a:r>
                        <a:rPr sz="1300" b="0" i="0">
                          <a:solidFill>
                            <a:srgbClr val="1E293B"/>
                          </a:solidFill>
                          <a:latin typeface="Arial"/>
                        </a:rPr>
                        <a:t>The team's agreement on which tables, columns and codes the conversion delivers and the training reads.</a:t>
                      </a:r>
                    </a:p>
                  </a:txBody>
                  <a:tcPr marL="109728" marR="109728" marT="45720" marB="45720" anchor="ctr">
                    <a:solidFill>
                      <a:srgbClr val="F1F5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640080"/>
          </a:xfrm>
          <a:prstGeom prst="rect">
            <a:avLst/>
          </a:prstGeom>
          <a:noFill/>
        </p:spPr>
        <p:txBody>
          <a:bodyPr wrap="square" lIns="0" rIns="0" tIns="0" bIns="0" anchor="t">
            <a:noAutofit/>
          </a:bodyPr>
          <a:lstStyle/>
          <a:p>
            <a:pPr algn="l">
              <a:spcAft>
                <a:spcPts val="600"/>
              </a:spcAft>
            </a:pPr>
            <a:r>
              <a:rPr sz="3000" b="1" i="0">
                <a:solidFill>
                  <a:srgbClr val="0B1220"/>
                </a:solidFill>
                <a:latin typeface="Arial"/>
              </a:rPr>
              <a:t>Terms (2/2): tools, learning and evaluation</a:t>
            </a:r>
          </a:p>
        </p:txBody>
      </p:sp>
      <p:sp>
        <p:nvSpPr>
          <p:cNvPr id="4" name="TextBox 3"/>
          <p:cNvSpPr txBox="1"/>
          <p:nvPr/>
        </p:nvSpPr>
        <p:spPr>
          <a:xfrm>
            <a:off x="548640" y="6464808"/>
            <a:ext cx="5486400" cy="274320"/>
          </a:xfrm>
          <a:prstGeom prst="rect">
            <a:avLst/>
          </a:prstGeom>
          <a:noFill/>
        </p:spPr>
        <p:txBody>
          <a:bodyPr wrap="square" lIns="0" rIns="0" tIns="0" bIns="0" anchor="t">
            <a:noAutofit/>
          </a:bodyPr>
          <a:lstStyle/>
          <a:p>
            <a:pPr algn="l">
              <a:spcAft>
                <a:spcPts val="600"/>
              </a:spcAft>
            </a:pPr>
            <a:r>
              <a:rPr sz="1000" b="0" i="0">
                <a:solidFill>
                  <a:srgbClr val="64748B"/>
                </a:solidFill>
                <a:latin typeface="Arial"/>
              </a:rPr>
              <a:t>Concordia · Project 5 · Copenhagen 2026</a:t>
            </a:r>
          </a:p>
        </p:txBody>
      </p:sp>
      <p:graphicFrame>
        <p:nvGraphicFramePr>
          <p:cNvPr id="5" name="Table 4"/>
          <p:cNvGraphicFramePr>
            <a:graphicFrameLocks noGrp="1"/>
          </p:cNvGraphicFramePr>
          <p:nvPr/>
        </p:nvGraphicFramePr>
        <p:xfrm>
          <a:off x="548640" y="1143000"/>
          <a:ext cx="11094415" cy="4389120"/>
        </p:xfrm>
        <a:graphic>
          <a:graphicData uri="http://schemas.openxmlformats.org/drawingml/2006/table">
            <a:tbl>
              <a:tblPr>
                <a:tableStyleId>{5C22544A-7EE6-4342-B048-85BDC9FD1C3A}</a:tableStyleId>
              </a:tblPr>
              <a:tblGrid>
                <a:gridCol w="2651760"/>
                <a:gridCol w="8442655"/>
              </a:tblGrid>
              <a:tr h="365760">
                <a:tc>
                  <a:txBody>
                    <a:bodyPr wrap="square">
                      <a:noAutofit/>
                    </a:bodyPr>
                    <a:lstStyle/>
                    <a:p>
                      <a:pPr algn="l">
                        <a:spcAft>
                          <a:spcPts val="0"/>
                        </a:spcAft>
                      </a:pPr>
                      <a:r>
                        <a:rPr sz="1400" b="1" i="0">
                          <a:solidFill>
                            <a:srgbClr val="0F766E"/>
                          </a:solidFill>
                          <a:latin typeface="Arial"/>
                        </a:rPr>
                        <a:t>Agent, skill</a:t>
                      </a:r>
                    </a:p>
                  </a:txBody>
                  <a:tcPr marL="109728" marR="109728" marT="45720" marB="45720" anchor="ctr">
                    <a:solidFill>
                      <a:srgbClr val="F1F5F9"/>
                    </a:solidFill>
                  </a:tcPr>
                </a:tc>
                <a:tc>
                  <a:txBody>
                    <a:bodyPr wrap="square">
                      <a:noAutofit/>
                    </a:bodyPr>
                    <a:lstStyle/>
                    <a:p>
                      <a:pPr algn="l">
                        <a:spcAft>
                          <a:spcPts val="0"/>
                        </a:spcAft>
                      </a:pPr>
                      <a:r>
                        <a:rPr sz="1300" b="0" i="0">
                          <a:solidFill>
                            <a:srgbClr val="1E293B"/>
                          </a:solidFill>
                          <a:latin typeface="Arial"/>
                        </a:rPr>
                        <a:t>An AI assistant that runs commands, and the instruction file it follows.</a:t>
                      </a:r>
                    </a:p>
                  </a:txBody>
                  <a:tcPr marL="109728" marR="109728" marT="45720" marB="45720" anchor="ctr">
                    <a:solidFill>
                      <a:srgbClr val="F1F5F9"/>
                    </a:solidFill>
                  </a:tcPr>
                </a:tc>
              </a:tr>
              <a:tr h="365760">
                <a:tc>
                  <a:txBody>
                    <a:bodyPr wrap="square">
                      <a:noAutofit/>
                    </a:bodyPr>
                    <a:lstStyle/>
                    <a:p>
                      <a:pPr algn="l">
                        <a:spcAft>
                          <a:spcPts val="0"/>
                        </a:spcAft>
                      </a:pPr>
                      <a:r>
                        <a:rPr sz="1400" b="1" i="0">
                          <a:solidFill>
                            <a:srgbClr val="0F766E"/>
                          </a:solidFill>
                          <a:latin typeface="Arial"/>
                        </a:rPr>
                        <a:t>DuckDB</a:t>
                      </a:r>
                    </a:p>
                  </a:txBody>
                  <a:tcPr marL="109728" marR="109728" marT="45720" marB="45720" anchor="ctr">
                    <a:solidFill>
                      <a:srgbClr val="FFFFFF"/>
                    </a:solidFill>
                  </a:tcPr>
                </a:tc>
                <a:tc>
                  <a:txBody>
                    <a:bodyPr wrap="square">
                      <a:noAutofit/>
                    </a:bodyPr>
                    <a:lstStyle/>
                    <a:p>
                      <a:pPr algn="l">
                        <a:spcAft>
                          <a:spcPts val="0"/>
                        </a:spcAft>
                      </a:pPr>
                      <a:r>
                        <a:rPr sz="1300" b="0" i="0">
                          <a:solidFill>
                            <a:srgbClr val="1E293B"/>
                          </a:solidFill>
                          <a:latin typeface="Arial"/>
                        </a:rPr>
                        <a:t>A small database engine that runs inside Python, without a server.</a:t>
                      </a:r>
                    </a:p>
                  </a:txBody>
                  <a:tcPr marL="109728" marR="109728" marT="45720" marB="45720" anchor="ctr">
                    <a:solidFill>
                      <a:srgbClr val="FFFFFF"/>
                    </a:solidFill>
                  </a:tcPr>
                </a:tc>
              </a:tr>
              <a:tr h="365760">
                <a:tc>
                  <a:txBody>
                    <a:bodyPr wrap="square">
                      <a:noAutofit/>
                    </a:bodyPr>
                    <a:lstStyle/>
                    <a:p>
                      <a:pPr algn="l">
                        <a:spcAft>
                          <a:spcPts val="0"/>
                        </a:spcAft>
                      </a:pPr>
                      <a:r>
                        <a:rPr sz="1400" b="1" i="0">
                          <a:solidFill>
                            <a:srgbClr val="0F766E"/>
                          </a:solidFill>
                          <a:latin typeface="Arial"/>
                        </a:rPr>
                        <a:t>QC</a:t>
                      </a:r>
                    </a:p>
                  </a:txBody>
                  <a:tcPr marL="109728" marR="109728" marT="45720" marB="45720" anchor="ctr">
                    <a:solidFill>
                      <a:srgbClr val="F1F5F9"/>
                    </a:solidFill>
                  </a:tcPr>
                </a:tc>
                <a:tc>
                  <a:txBody>
                    <a:bodyPr wrap="square">
                      <a:noAutofit/>
                    </a:bodyPr>
                    <a:lstStyle/>
                    <a:p>
                      <a:pPr algn="l">
                        <a:spcAft>
                          <a:spcPts val="0"/>
                        </a:spcAft>
                      </a:pPr>
                      <a:r>
                        <a:rPr sz="1300" b="0" i="0">
                          <a:solidFill>
                            <a:srgbClr val="1E293B"/>
                          </a:solidFill>
                          <a:latin typeface="Arial"/>
                        </a:rPr>
                        <a:t>Quality control: automatic checks for missing values, impossible dates, unknown codes and implausible values.</a:t>
                      </a:r>
                    </a:p>
                  </a:txBody>
                  <a:tcPr marL="109728" marR="109728" marT="45720" marB="45720" anchor="ctr">
                    <a:solidFill>
                      <a:srgbClr val="F1F5F9"/>
                    </a:solidFill>
                  </a:tcPr>
                </a:tc>
              </a:tr>
              <a:tr h="365760">
                <a:tc>
                  <a:txBody>
                    <a:bodyPr wrap="square">
                      <a:noAutofit/>
                    </a:bodyPr>
                    <a:lstStyle/>
                    <a:p>
                      <a:pPr algn="l">
                        <a:spcAft>
                          <a:spcPts val="0"/>
                        </a:spcAft>
                      </a:pPr>
                      <a:r>
                        <a:rPr sz="1400" b="1" i="0">
                          <a:solidFill>
                            <a:srgbClr val="0F766E"/>
                          </a:solidFill>
                          <a:latin typeface="Arial"/>
                        </a:rPr>
                        <a:t>Dataloader</a:t>
                      </a:r>
                    </a:p>
                  </a:txBody>
                  <a:tcPr marL="109728" marR="109728" marT="45720" marB="45720" anchor="ctr">
                    <a:solidFill>
                      <a:srgbClr val="FFFFFF"/>
                    </a:solidFill>
                  </a:tcPr>
                </a:tc>
                <a:tc>
                  <a:txBody>
                    <a:bodyPr wrap="square">
                      <a:noAutofit/>
                    </a:bodyPr>
                    <a:lstStyle/>
                    <a:p>
                      <a:pPr algn="l">
                        <a:spcAft>
                          <a:spcPts val="0"/>
                        </a:spcAft>
                      </a:pPr>
                      <a:r>
                        <a:rPr sz="1300" b="0" i="0">
                          <a:solidFill>
                            <a:srgbClr val="1E293B"/>
                          </a:solidFill>
                          <a:latin typeface="Arial"/>
                        </a:rPr>
                        <a:t>The part that reads the OMOP tables and feeds them to the model in batches.</a:t>
                      </a:r>
                    </a:p>
                  </a:txBody>
                  <a:tcPr marL="109728" marR="109728" marT="45720" marB="45720" anchor="ctr">
                    <a:solidFill>
                      <a:srgbClr val="FFFFFF"/>
                    </a:solidFill>
                  </a:tcPr>
                </a:tc>
              </a:tr>
              <a:tr h="365760">
                <a:tc>
                  <a:txBody>
                    <a:bodyPr wrap="square">
                      <a:noAutofit/>
                    </a:bodyPr>
                    <a:lstStyle/>
                    <a:p>
                      <a:pPr algn="l">
                        <a:spcAft>
                          <a:spcPts val="0"/>
                        </a:spcAft>
                      </a:pPr>
                      <a:r>
                        <a:rPr sz="1400" b="1" i="0">
                          <a:solidFill>
                            <a:srgbClr val="0F766E"/>
                          </a:solidFill>
                          <a:latin typeface="Arial"/>
                        </a:rPr>
                        <a:t>Federated learning</a:t>
                      </a:r>
                    </a:p>
                  </a:txBody>
                  <a:tcPr marL="109728" marR="109728" marT="45720" marB="45720" anchor="ctr">
                    <a:solidFill>
                      <a:srgbClr val="F1F5F9"/>
                    </a:solidFill>
                  </a:tcPr>
                </a:tc>
                <a:tc>
                  <a:txBody>
                    <a:bodyPr wrap="square">
                      <a:noAutofit/>
                    </a:bodyPr>
                    <a:lstStyle/>
                    <a:p>
                      <a:pPr algn="l">
                        <a:spcAft>
                          <a:spcPts val="0"/>
                        </a:spcAft>
                      </a:pPr>
                      <a:r>
                        <a:rPr sz="1300" b="0" i="0">
                          <a:solidFill>
                            <a:srgbClr val="1E293B"/>
                          </a:solidFill>
                          <a:latin typeface="Arial"/>
                        </a:rPr>
                        <a:t>Training one model across several sites while each site keeps its data.</a:t>
                      </a:r>
                    </a:p>
                  </a:txBody>
                  <a:tcPr marL="109728" marR="109728" marT="45720" marB="45720" anchor="ctr">
                    <a:solidFill>
                      <a:srgbClr val="F1F5F9"/>
                    </a:solidFill>
                  </a:tcPr>
                </a:tc>
              </a:tr>
              <a:tr h="365760">
                <a:tc>
                  <a:txBody>
                    <a:bodyPr wrap="square">
                      <a:noAutofit/>
                    </a:bodyPr>
                    <a:lstStyle/>
                    <a:p>
                      <a:pPr algn="l">
                        <a:spcAft>
                          <a:spcPts val="0"/>
                        </a:spcAft>
                      </a:pPr>
                      <a:r>
                        <a:rPr sz="1400" b="1" i="0">
                          <a:solidFill>
                            <a:srgbClr val="0F766E"/>
                          </a:solidFill>
                          <a:latin typeface="Arial"/>
                        </a:rPr>
                        <a:t>NVFlare</a:t>
                      </a:r>
                    </a:p>
                  </a:txBody>
                  <a:tcPr marL="109728" marR="109728" marT="45720" marB="45720" anchor="ctr">
                    <a:solidFill>
                      <a:srgbClr val="FFFFFF"/>
                    </a:solidFill>
                  </a:tcPr>
                </a:tc>
                <a:tc>
                  <a:txBody>
                    <a:bodyPr wrap="square">
                      <a:noAutofit/>
                    </a:bodyPr>
                    <a:lstStyle/>
                    <a:p>
                      <a:pPr algn="l">
                        <a:spcAft>
                          <a:spcPts val="0"/>
                        </a:spcAft>
                      </a:pPr>
                      <a:r>
                        <a:rPr sz="1300" b="0" i="0">
                          <a:solidFill>
                            <a:srgbClr val="1E293B"/>
                          </a:solidFill>
                          <a:latin typeface="Arial"/>
                        </a:rPr>
                        <a:t>NVIDIA's open-source framework for federated learning.</a:t>
                      </a:r>
                    </a:p>
                  </a:txBody>
                  <a:tcPr marL="109728" marR="109728" marT="45720" marB="45720" anchor="ctr">
                    <a:solidFill>
                      <a:srgbClr val="FFFFFF"/>
                    </a:solidFill>
                  </a:tcPr>
                </a:tc>
              </a:tr>
              <a:tr h="365760">
                <a:tc>
                  <a:txBody>
                    <a:bodyPr wrap="square">
                      <a:noAutofit/>
                    </a:bodyPr>
                    <a:lstStyle/>
                    <a:p>
                      <a:pPr algn="l">
                        <a:spcAft>
                          <a:spcPts val="0"/>
                        </a:spcAft>
                      </a:pPr>
                      <a:r>
                        <a:rPr sz="1400" b="1" i="0">
                          <a:solidFill>
                            <a:srgbClr val="0F766E"/>
                          </a:solidFill>
                          <a:latin typeface="Arial"/>
                        </a:rPr>
                        <a:t>FedAvg</a:t>
                      </a:r>
                    </a:p>
                  </a:txBody>
                  <a:tcPr marL="109728" marR="109728" marT="45720" marB="45720" anchor="ctr">
                    <a:solidFill>
                      <a:srgbClr val="F1F5F9"/>
                    </a:solidFill>
                  </a:tcPr>
                </a:tc>
                <a:tc>
                  <a:txBody>
                    <a:bodyPr wrap="square">
                      <a:noAutofit/>
                    </a:bodyPr>
                    <a:lstStyle/>
                    <a:p>
                      <a:pPr algn="l">
                        <a:spcAft>
                          <a:spcPts val="0"/>
                        </a:spcAft>
                      </a:pPr>
                      <a:r>
                        <a:rPr sz="1300" b="0" i="0">
                          <a:solidFill>
                            <a:srgbClr val="1E293B"/>
                          </a:solidFill>
                          <a:latin typeface="Arial"/>
                        </a:rPr>
                        <a:t>Federated averaging: in every round the server averages the model weights the sites send back.</a:t>
                      </a:r>
                    </a:p>
                  </a:txBody>
                  <a:tcPr marL="109728" marR="109728" marT="45720" marB="45720" anchor="ctr">
                    <a:solidFill>
                      <a:srgbClr val="F1F5F9"/>
                    </a:solidFill>
                  </a:tcPr>
                </a:tc>
              </a:tr>
              <a:tr h="365760">
                <a:tc>
                  <a:txBody>
                    <a:bodyPr wrap="square">
                      <a:noAutofit/>
                    </a:bodyPr>
                    <a:lstStyle/>
                    <a:p>
                      <a:pPr algn="l">
                        <a:spcAft>
                          <a:spcPts val="0"/>
                        </a:spcAft>
                      </a:pPr>
                      <a:r>
                        <a:rPr sz="1400" b="1" i="0">
                          <a:solidFill>
                            <a:srgbClr val="0F766E"/>
                          </a:solidFill>
                          <a:latin typeface="Arial"/>
                        </a:rPr>
                        <a:t>Weights</a:t>
                      </a:r>
                    </a:p>
                  </a:txBody>
                  <a:tcPr marL="109728" marR="109728" marT="45720" marB="45720" anchor="ctr">
                    <a:solidFill>
                      <a:srgbClr val="FFFFFF"/>
                    </a:solidFill>
                  </a:tcPr>
                </a:tc>
                <a:tc>
                  <a:txBody>
                    <a:bodyPr wrap="square">
                      <a:noAutofit/>
                    </a:bodyPr>
                    <a:lstStyle/>
                    <a:p>
                      <a:pPr algn="l">
                        <a:spcAft>
                          <a:spcPts val="0"/>
                        </a:spcAft>
                      </a:pPr>
                      <a:r>
                        <a:rPr sz="1300" b="0" i="0">
                          <a:solidFill>
                            <a:srgbClr val="1E293B"/>
                          </a:solidFill>
                          <a:latin typeface="Arial"/>
                        </a:rPr>
                        <a:t>The numbers a model learns. The only thing the sites share.</a:t>
                      </a:r>
                    </a:p>
                  </a:txBody>
                  <a:tcPr marL="109728" marR="109728" marT="45720" marB="45720" anchor="ctr">
                    <a:solidFill>
                      <a:srgbClr val="FFFFFF"/>
                    </a:solidFill>
                  </a:tcPr>
                </a:tc>
              </a:tr>
              <a:tr h="365760">
                <a:tc>
                  <a:txBody>
                    <a:bodyPr wrap="square">
                      <a:noAutofit/>
                    </a:bodyPr>
                    <a:lstStyle/>
                    <a:p>
                      <a:pPr algn="l">
                        <a:spcAft>
                          <a:spcPts val="0"/>
                        </a:spcAft>
                      </a:pPr>
                      <a:r>
                        <a:rPr sz="1400" b="1" i="0">
                          <a:solidFill>
                            <a:srgbClr val="0F766E"/>
                          </a:solidFill>
                          <a:latin typeface="Arial"/>
                        </a:rPr>
                        <a:t>Pooled training</a:t>
                      </a:r>
                    </a:p>
                  </a:txBody>
                  <a:tcPr marL="109728" marR="109728" marT="45720" marB="45720" anchor="ctr">
                    <a:solidFill>
                      <a:srgbClr val="F1F5F9"/>
                    </a:solidFill>
                  </a:tcPr>
                </a:tc>
                <a:tc>
                  <a:txBody>
                    <a:bodyPr wrap="square">
                      <a:noAutofit/>
                    </a:bodyPr>
                    <a:lstStyle/>
                    <a:p>
                      <a:pPr algn="l">
                        <a:spcAft>
                          <a:spcPts val="0"/>
                        </a:spcAft>
                      </a:pPr>
                      <a:r>
                        <a:rPr sz="1300" b="0" i="0">
                          <a:solidFill>
                            <a:srgbClr val="1E293B"/>
                          </a:solidFill>
                          <a:latin typeface="Arial"/>
                        </a:rPr>
                        <a:t>Training on all data in one place. The upper bound federated learning is measured against.</a:t>
                      </a:r>
                    </a:p>
                  </a:txBody>
                  <a:tcPr marL="109728" marR="109728" marT="45720" marB="45720" anchor="ctr">
                    <a:solidFill>
                      <a:srgbClr val="F1F5F9"/>
                    </a:solidFill>
                  </a:tcPr>
                </a:tc>
              </a:tr>
              <a:tr h="365760">
                <a:tc>
                  <a:txBody>
                    <a:bodyPr wrap="square">
                      <a:noAutofit/>
                    </a:bodyPr>
                    <a:lstStyle/>
                    <a:p>
                      <a:pPr algn="l">
                        <a:spcAft>
                          <a:spcPts val="0"/>
                        </a:spcAft>
                      </a:pPr>
                      <a:r>
                        <a:rPr sz="1400" b="1" i="0">
                          <a:solidFill>
                            <a:srgbClr val="0F766E"/>
                          </a:solidFill>
                          <a:latin typeface="Arial"/>
                        </a:rPr>
                        <a:t>AUROC</a:t>
                      </a:r>
                    </a:p>
                  </a:txBody>
                  <a:tcPr marL="109728" marR="109728" marT="45720" marB="45720" anchor="ctr">
                    <a:solidFill>
                      <a:srgbClr val="FFFFFF"/>
                    </a:solidFill>
                  </a:tcPr>
                </a:tc>
                <a:tc>
                  <a:txBody>
                    <a:bodyPr wrap="square">
                      <a:noAutofit/>
                    </a:bodyPr>
                    <a:lstStyle/>
                    <a:p>
                      <a:pPr algn="l">
                        <a:spcAft>
                          <a:spcPts val="0"/>
                        </a:spcAft>
                      </a:pPr>
                      <a:r>
                        <a:rPr sz="1300" b="0" i="0">
                          <a:solidFill>
                            <a:srgbClr val="1E293B"/>
                          </a:solidFill>
                          <a:latin typeface="Arial"/>
                        </a:rPr>
                        <a:t>Area under the ROC curve: how well a model separates cases from non-cases. 0.5 is chance, 1.0 is perfect.</a:t>
                      </a:r>
                    </a:p>
                  </a:txBody>
                  <a:tcPr marL="109728" marR="109728" marT="45720" marB="45720" anchor="ctr">
                    <a:solidFill>
                      <a:srgbClr val="FFFFFF"/>
                    </a:solidFill>
                  </a:tcPr>
                </a:tc>
              </a:tr>
              <a:tr h="365760">
                <a:tc>
                  <a:txBody>
                    <a:bodyPr wrap="square">
                      <a:noAutofit/>
                    </a:bodyPr>
                    <a:lstStyle/>
                    <a:p>
                      <a:pPr algn="l">
                        <a:spcAft>
                          <a:spcPts val="0"/>
                        </a:spcAft>
                      </a:pPr>
                      <a:r>
                        <a:rPr sz="1400" b="1" i="0">
                          <a:solidFill>
                            <a:srgbClr val="0F766E"/>
                          </a:solidFill>
                          <a:latin typeface="Arial"/>
                        </a:rPr>
                        <a:t>Standard deviation (SD)</a:t>
                      </a:r>
                    </a:p>
                  </a:txBody>
                  <a:tcPr marL="109728" marR="109728" marT="45720" marB="45720" anchor="ctr">
                    <a:solidFill>
                      <a:srgbClr val="F1F5F9"/>
                    </a:solidFill>
                  </a:tcPr>
                </a:tc>
                <a:tc>
                  <a:txBody>
                    <a:bodyPr wrap="square">
                      <a:noAutofit/>
                    </a:bodyPr>
                    <a:lstStyle/>
                    <a:p>
                      <a:pPr algn="l">
                        <a:spcAft>
                          <a:spcPts val="0"/>
                        </a:spcAft>
                      </a:pPr>
                      <a:r>
                        <a:rPr sz="1300" b="0" i="0">
                          <a:solidFill>
                            <a:srgbClr val="1E293B"/>
                          </a:solidFill>
                          <a:latin typeface="Arial"/>
                        </a:rPr>
                        <a:t>How spread out values are. 0.03 SD from the mean means practically the same.</a:t>
                      </a:r>
                    </a:p>
                  </a:txBody>
                  <a:tcPr marL="109728" marR="109728" marT="45720" marB="45720" anchor="ctr">
                    <a:solidFill>
                      <a:srgbClr val="F1F5F9"/>
                    </a:solidFill>
                  </a:tcPr>
                </a:tc>
              </a:tr>
              <a:tr h="365760">
                <a:tc>
                  <a:txBody>
                    <a:bodyPr wrap="square">
                      <a:noAutofit/>
                    </a:bodyPr>
                    <a:lstStyle/>
                    <a:p>
                      <a:pPr algn="l">
                        <a:spcAft>
                          <a:spcPts val="0"/>
                        </a:spcAft>
                      </a:pPr>
                      <a:r>
                        <a:rPr sz="1400" b="1" i="0">
                          <a:solidFill>
                            <a:srgbClr val="0F766E"/>
                          </a:solidFill>
                          <a:latin typeface="Arial"/>
                        </a:rPr>
                        <a:t>Negative control</a:t>
                      </a:r>
                    </a:p>
                  </a:txBody>
                  <a:tcPr marL="109728" marR="109728" marT="45720" marB="45720" anchor="ctr">
                    <a:solidFill>
                      <a:srgbClr val="FFFFFF"/>
                    </a:solidFill>
                  </a:tcPr>
                </a:tc>
                <a:tc>
                  <a:txBody>
                    <a:bodyPr wrap="square">
                      <a:noAutofit/>
                    </a:bodyPr>
                    <a:lstStyle/>
                    <a:p>
                      <a:pPr algn="l">
                        <a:spcAft>
                          <a:spcPts val="0"/>
                        </a:spcAft>
                      </a:pPr>
                      <a:r>
                        <a:rPr sz="1300" b="0" i="0">
                          <a:solidFill>
                            <a:srgbClr val="1E293B"/>
                          </a:solidFill>
                          <a:latin typeface="Arial"/>
                        </a:rPr>
                        <a:t>A test on data known to hold no signal, to show the method does not invent one.</a:t>
                      </a:r>
                    </a:p>
                  </a:txBody>
                  <a:tcPr marL="109728" marR="109728" marT="45720" marB="45720"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Concordia</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